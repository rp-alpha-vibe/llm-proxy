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7fe5d0d53b4f53" /><Relationship Type="http://schemas.openxmlformats.org/officeDocument/2006/relationships/extended-properties" Target="/docProps/app.xml" Id="Re9be3285151e45d8" /><Relationship Type="http://schemas.openxmlformats.org/officeDocument/2006/relationships/officeDocument" Target="/ppt/presentation.xml" Id="Rb2f32bf7d8d5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2e94419d0439f"/>
  </p:sldMasterIdLst>
  <p:notesMasterIdLst>
    <p:notesMasterId xmlns:r="http://schemas.openxmlformats.org/officeDocument/2006/relationships" r:id="R8ec6e530fa744320"/>
  </p:notesMasterIdLst>
  <p:sldIdLst>
    <p:sldId xmlns:r="http://schemas.openxmlformats.org/officeDocument/2006/relationships" id="256" r:id="Rbbf92c74466048ff"/>
    <p:sldId xmlns:r="http://schemas.openxmlformats.org/officeDocument/2006/relationships" id="257" r:id="Rcd5dce7d224c436e"/>
    <p:sldId xmlns:r="http://schemas.openxmlformats.org/officeDocument/2006/relationships" id="258" r:id="Rcf431122d1b1417a"/>
    <p:sldId xmlns:r="http://schemas.openxmlformats.org/officeDocument/2006/relationships" id="259" r:id="R0329d299bb2540c0"/>
    <p:sldId xmlns:r="http://schemas.openxmlformats.org/officeDocument/2006/relationships" id="260" r:id="Ra657afd1f0654d6f"/>
    <p:sldId xmlns:r="http://schemas.openxmlformats.org/officeDocument/2006/relationships" id="261" r:id="R54f5cd0a5d8747b2"/>
    <p:sldId xmlns:r="http://schemas.openxmlformats.org/officeDocument/2006/relationships" id="262" r:id="Raffb433cc1b942b3"/>
    <p:sldId xmlns:r="http://schemas.openxmlformats.org/officeDocument/2006/relationships" id="263" r:id="Rbedf06cc787e4010"/>
    <p:sldId xmlns:r="http://schemas.openxmlformats.org/officeDocument/2006/relationships" id="264" r:id="R9fce4a4fac8348ce"/>
    <p:sldId xmlns:r="http://schemas.openxmlformats.org/officeDocument/2006/relationships" id="265" r:id="Rf9a7628618e44e29"/>
    <p:sldId xmlns:r="http://schemas.openxmlformats.org/officeDocument/2006/relationships" id="266" r:id="R967a594a7fd94117"/>
    <p:sldId xmlns:r="http://schemas.openxmlformats.org/officeDocument/2006/relationships" id="267" r:id="R80444397cf424f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a25907d344617" /><Relationship Type="http://schemas.openxmlformats.org/officeDocument/2006/relationships/slideMaster" Target="/ppt/slideMasters/slideMaster1.xml" Id="R2ae2e94419d0439f" /><Relationship Type="http://schemas.openxmlformats.org/officeDocument/2006/relationships/notesMaster" Target="/ppt/notesMasters/notesMaster1.xml" Id="R8ec6e530fa744320" /><Relationship Type="http://schemas.openxmlformats.org/officeDocument/2006/relationships/presProps" Target="/ppt/presProps.xml" Id="R50d5f65a9ad74fda" /><Relationship Type="http://schemas.openxmlformats.org/officeDocument/2006/relationships/tableStyles" Target="/ppt/tableStyles.xml" Id="R0c96d728324342c1" /><Relationship Type="http://schemas.openxmlformats.org/officeDocument/2006/relationships/slide" Target="/ppt/slides/slide1.xml" Id="Rbbf92c74466048ff" /><Relationship Type="http://schemas.openxmlformats.org/officeDocument/2006/relationships/slide" Target="/ppt/slides/slide2.xml" Id="Rcd5dce7d224c436e" /><Relationship Type="http://schemas.openxmlformats.org/officeDocument/2006/relationships/slide" Target="/ppt/slides/slide3.xml" Id="Rcf431122d1b1417a" /><Relationship Type="http://schemas.openxmlformats.org/officeDocument/2006/relationships/slide" Target="/ppt/slides/slide4.xml" Id="R0329d299bb2540c0" /><Relationship Type="http://schemas.openxmlformats.org/officeDocument/2006/relationships/slide" Target="/ppt/slides/slide5.xml" Id="Ra657afd1f0654d6f" /><Relationship Type="http://schemas.openxmlformats.org/officeDocument/2006/relationships/slide" Target="/ppt/slides/slide6.xml" Id="R54f5cd0a5d8747b2" /><Relationship Type="http://schemas.openxmlformats.org/officeDocument/2006/relationships/slide" Target="/ppt/slides/slide7.xml" Id="Raffb433cc1b942b3" /><Relationship Type="http://schemas.openxmlformats.org/officeDocument/2006/relationships/slide" Target="/ppt/slides/slide8.xml" Id="Rbedf06cc787e4010" /><Relationship Type="http://schemas.openxmlformats.org/officeDocument/2006/relationships/slide" Target="/ppt/slides/slide9.xml" Id="R9fce4a4fac8348ce" /><Relationship Type="http://schemas.openxmlformats.org/officeDocument/2006/relationships/slide" Target="/ppt/slides/slide10.xml" Id="Rf9a7628618e44e29" /><Relationship Type="http://schemas.openxmlformats.org/officeDocument/2006/relationships/slide" Target="/ppt/slides/slide11.xml" Id="R967a594a7fd94117" /><Relationship Type="http://schemas.openxmlformats.org/officeDocument/2006/relationships/slide" Target="/ppt/slides/slide12.xml" Id="R80444397cf42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e622e2839c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e7b8bdcdf64c24" /><Relationship Type="http://schemas.openxmlformats.org/officeDocument/2006/relationships/notesMaster" Target="/ppt/notesMasters/notesMaster1.xml" Id="R81a5b93bcd774a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0bfab9d86e4fc4" /><Relationship Type="http://schemas.openxmlformats.org/officeDocument/2006/relationships/notesMaster" Target="/ppt/notesMasters/notesMaster1.xml" Id="Ra1ae813e4351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d9db2e21744a7" /><Relationship Type="http://schemas.openxmlformats.org/officeDocument/2006/relationships/notesMaster" Target="/ppt/notesMasters/notesMaster1.xml" Id="R6e3b74802ad04e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c2153d8cdf45cb" /><Relationship Type="http://schemas.openxmlformats.org/officeDocument/2006/relationships/notesMaster" Target="/ppt/notesMasters/notesMaster1.xml" Id="Rf4f3da6508b146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6257dc5944cf5" /><Relationship Type="http://schemas.openxmlformats.org/officeDocument/2006/relationships/notesMaster" Target="/ppt/notesMasters/notesMaster1.xml" Id="Rb9f4ef90e04e49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77088e12024d3c" /><Relationship Type="http://schemas.openxmlformats.org/officeDocument/2006/relationships/notesMaster" Target="/ppt/notesMasters/notesMaster1.xml" Id="R9025c3a508cf4a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dc9a36553d4782" /><Relationship Type="http://schemas.openxmlformats.org/officeDocument/2006/relationships/notesMaster" Target="/ppt/notesMasters/notesMaster1.xml" Id="R90342a0a915d4a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0653ad7f5646b1" /><Relationship Type="http://schemas.openxmlformats.org/officeDocument/2006/relationships/notesMaster" Target="/ppt/notesMasters/notesMaster1.xml" Id="Rcadc029d118d4a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d16eaa752b4475" /><Relationship Type="http://schemas.openxmlformats.org/officeDocument/2006/relationships/notesMaster" Target="/ppt/notesMasters/notesMaster1.xml" Id="Rbf9054cbcdc442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3d5b37d86e45d2" /><Relationship Type="http://schemas.openxmlformats.org/officeDocument/2006/relationships/notesMaster" Target="/ppt/notesMasters/notesMaster1.xml" Id="Rb46530eda2f14b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88f0b7d1864aee" /><Relationship Type="http://schemas.openxmlformats.org/officeDocument/2006/relationships/notesMaster" Target="/ppt/notesMasters/notesMaster1.xml" Id="Re23d791fdc524b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213e54a94e4b99" /><Relationship Type="http://schemas.openxmlformats.org/officeDocument/2006/relationships/notesMaster" Target="/ppt/notesMasters/notesMaster1.xml" Id="R9d4969c49109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docs/REQUIREMENTS.md; docs/MASKING.md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docs/MASKING.md; src/llm_proxy/application/process_service.py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docs/ARCHITECTURE.md; docs/MASKING.md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docs/MASKING.md, §§4–6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docs/MASKING.md, §7; src/llm_proxy/application/process_service.py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docs/REQUIREMENTS.md, §4; docs/MASKING.md, §4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docs/MASKING.md, §6; docs/ARCHITECTURE.md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submission/railway-load-probe-2026-09-23.md; quality corpus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submission/railway-load-probe-2026-09-23.md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live /healthz and /docs HTTP 200, 2026-09-23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docs/MASKING.md; submission/CHECKLIST.md</a:t>
            </a:r>
          </a:p>
          <a:p xmlns:a="http://schemas.openxmlformats.org/drawingml/2006/main">
            <a:r>
              <a:t>Срез проекта: c18882c, 23 сентября 2026. Все примеры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cc7b9ac04548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91934d38b94992" /><Relationship Type="http://schemas.openxmlformats.org/officeDocument/2006/relationships/slideLayout" Target="/ppt/slideLayouts/slideLayout1.xml" Id="R09f9af228e1346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9af228e1346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a65100f494373" /><Relationship Type="http://schemas.openxmlformats.org/officeDocument/2006/relationships/notesSlide" Target="/ppt/notesSlides/notesSlide1.xml" Id="R929fd28b88ae43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e386d22dd45de" /><Relationship Type="http://schemas.openxmlformats.org/officeDocument/2006/relationships/notesSlide" Target="/ppt/notesSlides/notesSlide2.xml" Id="R2c768d1744b5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3c316e0e54b34" /><Relationship Type="http://schemas.openxmlformats.org/officeDocument/2006/relationships/notesSlide" Target="/ppt/notesSlides/notesSlide3.xml" Id="R752c61540a0b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30c12f8cf422c" /><Relationship Type="http://schemas.openxmlformats.org/officeDocument/2006/relationships/notesSlide" Target="/ppt/notesSlides/notesSlide4.xml" Id="R9c39f29c6a9e40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92b0831dd4989" /><Relationship Type="http://schemas.openxmlformats.org/officeDocument/2006/relationships/notesSlide" Target="/ppt/notesSlides/notesSlide5.xml" Id="R3612497639144d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77f644b9848e5" /><Relationship Type="http://schemas.openxmlformats.org/officeDocument/2006/relationships/notesSlide" Target="/ppt/notesSlides/notesSlide6.xml" Id="Rbfa0388c28eb40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5ff2fcd484061" /><Relationship Type="http://schemas.openxmlformats.org/officeDocument/2006/relationships/notesSlide" Target="/ppt/notesSlides/notesSlide7.xml" Id="Rf83b1b8f66104d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8201bbc944075" /><Relationship Type="http://schemas.openxmlformats.org/officeDocument/2006/relationships/notesSlide" Target="/ppt/notesSlides/notesSlide8.xml" Id="Rc23b5344e02845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889528db04e11" /><Relationship Type="http://schemas.openxmlformats.org/officeDocument/2006/relationships/notesSlide" Target="/ppt/notesSlides/notesSlide9.xml" Id="R2a45492ff96d48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2c483bfb84922" /><Relationship Type="http://schemas.openxmlformats.org/officeDocument/2006/relationships/notesSlide" Target="/ppt/notesSlides/notesSlide10.xml" Id="Re88b033d7d6f41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9935373674ed5" /><Relationship Type="http://schemas.openxmlformats.org/officeDocument/2006/relationships/notesSlide" Target="/ppt/notesSlides/notesSlide11.xml" Id="R435140fa016847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141d49ed247c0" /><Relationship Type="http://schemas.openxmlformats.org/officeDocument/2006/relationships/notesSlide" Target="/ppt/notesSlides/notesSlide12.xml" Id="Rcbe986adfc06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B09FD-4179-4371-8504-C43ED4D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BE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BEC8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788F0-E484-450D-9474-B49ED425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BE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BEC8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8B54D-F691-4DA2-BC20-93BCF07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104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llm-proxy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F3CAE-A308-437C-823D-C728FA4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Защита персональных данных</a:t>
            </a:r>
          </a:p>
          <a:p xmlns:a="http://schemas.openxmlformats.org/drawingml/2006/main">
            <a:pPr>
              <a:defRPr sz="36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 работе с LLM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B36E1-EB79-48E3-81BD-D1006D5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8BEC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8BEC8"/>
                </a:solidFill>
                <a:latin typeface="Arial"/>
                <a:ea typeface="Arial"/>
                <a:cs typeface="Arial"/>
              </a:rPr>
              <a:t>Обнаружить. Заменить. Восстановить.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0809F-A38E-41F9-9346-D30CA84E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«Красный Kod»</a:t>
            </a:r>
          </a:p>
        </p:txBody>
      </p:sp>
    </p:spTree>
    <p:extLst>
      <p:ext uri="{BB962C8B-B14F-4D97-AF65-F5344CB8AC3E}">
        <p14:creationId xmlns:p14="http://schemas.microsoft.com/office/powerpoint/2010/main" val="30071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4779F-DD48-489A-9112-618B2A7B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8490F-D85A-4F4B-AA66-6E85DA7D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95AAA-83DF-4D42-AC4F-A6CFB7D0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Полезный запрос не должен раскрывать 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63158-EE82-40F2-9157-3DE4D2B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Приложение сохраняет смысл задачи, передавая модели обозначения вместо персональных данных.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A42FC-A4B2-41B0-8777-04C74DF0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ИСХОДНЫЙ 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52E02-5A46-4FAF-B243-11248747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1911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50A8B-6C90-4AD5-98F1-C9A39AD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4714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Напишите на</a:t>
            </a:r>
          </a:p>
          <a:p xmlns:a="http://schemas.openxmlformats.org/drawingml/2006/main">
            <a:pPr>
              <a:defRPr sz="27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ivan@example.com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9BCFD-0641-48D1-9507-A9A06D84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67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ТЕКСТ ДЛЯ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3A613-A886-41FB-ABE6-024D4429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51911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E6172-5FA7-49D4-A579-8F18BAC7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29000"/>
            <a:ext cx="4714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Напишите на</a:t>
            </a:r>
          </a:p>
          <a:p xmlns:a="http://schemas.openxmlformats.org/drawingml/2006/main">
            <a:pPr>
              <a:defRPr sz="27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&lt;EMAIL_1&gt;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BE97E-C571-42AF-A0D5-D7723473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Адрес нужен приложению. Для составления ответа модели достаточно обозначения.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178375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F67DC-6273-48FC-96EF-FFE9603C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3B38B-6A94-4679-B484-3F4D6F3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5807C-577A-4A93-A57A-C59EBD2C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Один API — два направления обработки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45E5E-273B-4856-B269-70713A4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POST /process принимает текст и payload_id, возвращает обработанный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1AEA-AF89-45B7-AF65-E672D622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E17D-EE38-4E15-A4C3-A79E497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Обнаружить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6C1D1-2A46-4465-B974-8DC00A8F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Правила распознавания</a:t>
            </a:r>
          </a:p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и контекст фразы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D58D6-824B-41CB-B739-EAC7765E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A54C-715D-4D85-BFDA-26677B2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Заменить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842DF-8ED0-4A52-830D-FE1B94AE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005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Уникальные обозначения</a:t>
            </a:r>
          </a:p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и временное состояние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1DE31-7FF8-4ED2-B179-46A262E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0515D-D7BD-4DD8-82A2-762A50A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Восстановить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D9A22-0FC9-42E3-A07F-B653889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Известные обозначения</a:t>
            </a:r>
          </a:p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в новом ответе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32BF6-80AD-4F53-9776-9F8EFB0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Повтор исходного запроса с тем же ID возвращает ту же маску.</a:t>
            </a:r>
          </a:p>
        </p:txBody>
      </p:sp>
    </p:spTree>
    <p:extLst>
      <p:ext uri="{BB962C8B-B14F-4D97-AF65-F5344CB8AC3E}">
        <p14:creationId xmlns:p14="http://schemas.microsoft.com/office/powerpoint/2010/main" val="885352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33F2C-CBAC-4104-836E-6EEDFF76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7094E-F67C-4094-A82E-1CF7937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289AD-32E6-44B8-8986-6B1C5188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Приложение управляет всем маршрутом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CA487-DB75-4049-824A-4DBD9389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llm-proxy обрабатывает данные; приложение самостоятельно вызывает внешнюю LLM.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5F11E-D66A-4798-BAF9-4BBDE76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2524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007BA-C628-466D-BB56-9F918B6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181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Приложение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91262-2EDD-4D56-B944-FECA310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28875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8C2CC-341B-4560-A60E-6A2A687C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00325"/>
            <a:ext cx="357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llm-proxy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F6925-5008-4DAF-8D1C-AAB886C2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09925"/>
            <a:ext cx="3571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Детекторы и контекст</a:t>
            </a:r>
          </a:p>
          <a:p xmlns:a="http://schemas.openxmlformats.org/drawingml/2006/main">
            <a:pPr>
              <a:defRPr sz="195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Замена / восстановление</a:t>
            </a:r>
          </a:p>
          <a:p xmlns:a="http://schemas.openxmlformats.org/drawingml/2006/main">
            <a:pPr>
              <a:defRPr sz="195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Политики потребителя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BFBCC-00A2-48C4-A987-0E85CC7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90875"/>
            <a:ext cx="1857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371B2-9601-4CBE-B418-7D50C1E4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52800"/>
            <a:ext cx="15144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95625" y="3762375"/>
            <a:ext cx="20955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headEnd type="triangle" w="med" len="me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191625" y="3667125"/>
            <a:ext cx="5715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headEnd type="triangle" w="med" len="me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7A68C-25AC-47F3-91C8-5D08F9D8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Текст + ID</a:t>
            </a:r>
          </a:p>
          <a:p xmlns:a="http://schemas.openxmlformats.org/drawingml/2006/main">
            <a:pPr>
              <a:defRPr sz="17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↔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87E57-F755-4EEE-9BFE-19BA088A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9102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AES-GCM</a:t>
            </a:r>
          </a:p>
          <a:p xmlns:a="http://schemas.openxmlformats.org/drawingml/2006/main">
            <a:pPr>
              <a:defRPr sz="165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и TTL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ADF33-850D-426E-A1EC-3AA74502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90578-2CDF-499F-A230-E9D32AD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Внешняя LLM</a:t>
            </a:r>
          </a:p>
        </p:txBody>
      </p:sp>
      <p:cxnSp>
        <p:nvCxnSpPr>
          <p:cNvPr id="38" name=""/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833563" y="4238625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headEnd type="triangle" w="med" len="me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BDAB5-C723-4843-8697-66EA3CF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5435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Очищенный запрос ↔ ответ с обозначениями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F759A-398C-43CE-A5A3-E369FC91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1150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Python · FastAPI · Redis · Docker</a:t>
            </a:r>
          </a:p>
        </p:txBody>
      </p:sp>
    </p:spTree>
    <p:extLst>
      <p:ext uri="{BB962C8B-B14F-4D97-AF65-F5344CB8AC3E}">
        <p14:creationId xmlns:p14="http://schemas.microsoft.com/office/powerpoint/2010/main" val="177118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16728-A6E3-4FB3-8614-012F0A28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6E91F-30CC-4295-A273-E84D01EC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9B98A-19A5-459A-9281-037005AD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От текста к безопасным обозначениям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AC863-E722-4E7C-BBE0-F909027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Локальные правила и проверка контекста. Нейросеть для распознавания не вызывается.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3FE8-F130-4C78-9CB5-B67F4844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AD3BA-EFC9-4B41-8842-3814F59F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3038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Получить текст</a:t>
            </a:r>
          </a:p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и правила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5EDC7-77BB-4D5F-85CA-7FB2DF18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151E1-93F3-49AD-9F3D-F8EFDC1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38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Найти кандидатов</a:t>
            </a:r>
          </a:p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по форме записи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7A7E-CE2D-4A42-8E17-4C9FE0E1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196CD-51AF-42C0-BB17-3A89711A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3038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Учесть контекст</a:t>
            </a:r>
          </a:p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и пересечения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539D6-43E1-45D3-8922-521BAC59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A6835-440D-481B-B5F0-437289E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3038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Вернуть</a:t>
            </a:r>
          </a:p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очищенный 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C2D60-81D5-4E3D-8559-0CA35D5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81500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29633-B033-468D-8374-F623ABE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43425"/>
            <a:ext cx="3038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Зашифровать</a:t>
            </a:r>
          </a:p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и сохранить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DEB43-BA92-485E-BF92-C833AA1B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B6258-902D-4DE2-BC1E-BA2CF796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43425"/>
            <a:ext cx="3038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Присвоить</a:t>
            </a:r>
          </a:p>
          <a:p xmlns:a="http://schemas.openxmlformats.org/drawingml/2006/main">
            <a:pPr>
              <a:defRPr sz="1875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обозначения</a:t>
            </a:r>
          </a:p>
        </p:txBody>
      </p: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52875" y="3214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62875" y="3214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882188" y="3714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tail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762875" y="4881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952875" y="4881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A2738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5A38B-296A-4686-8630-B09A379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ivan@example.com  →  &lt;EMAIL_1&gt;</a:t>
            </a:r>
          </a:p>
        </p:txBody>
      </p:sp>
    </p:spTree>
    <p:extLst>
      <p:ext uri="{BB962C8B-B14F-4D97-AF65-F5344CB8AC3E}">
        <p14:creationId xmlns:p14="http://schemas.microsoft.com/office/powerpoint/2010/main" val="1158883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1D23F-ECA9-4C37-9E8C-9FD69ED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60C6C-BC11-4D07-8073-E8F8581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53DAA-B859-434B-AF1D-9E4009A6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Восстанавливаем данные в новом ответе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EEC00-B880-4CC6-838F-5193DCD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Тот же payload_id связывает ответ модели с сохранёнными соответствиями.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8343D-11C5-4387-97D2-AED2DB44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01  ИСХОДНЫЙ ЗАПРОС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E20CF-44E1-4C54-9D02-E1647C9D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24125"/>
            <a:ext cx="714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Напишите на ivan@example.com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DC4C0-BCD6-469C-B2D0-F23EC74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02  ПОСЛЕ МАСКИРОВАНИЯ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87438-565F-48AB-9674-C2847915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90900"/>
            <a:ext cx="714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Напишите на &lt;EMAIL_1&gt;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5FA41-F2CE-42B6-AEF6-CAF76CF9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03  НОВЫЙ ОТВЕТ 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29F68-B60B-4C9B-AC55-147BEB2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57675"/>
            <a:ext cx="714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Сегодня рекомендую отправить сообщение на &lt;EMAIL_1&gt;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6A750-D0F6-4227-8642-4AB34DC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04  ПОСЛЕ ВОССТАНОВЛЕНИЯ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595B9-4660-4AD3-8397-52BB2AB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24450"/>
            <a:ext cx="714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Сегодня рекомендую отправить сообщение на ivan@example.com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978C2-CC76-43CC-9375-9A48A6B2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Порядок и повторы масок могут меняться. Остальной текст ответа сохраняется.</a:t>
            </a:r>
          </a:p>
        </p:txBody>
      </p:sp>
    </p:spTree>
    <p:extLst>
      <p:ext uri="{BB962C8B-B14F-4D97-AF65-F5344CB8AC3E}">
        <p14:creationId xmlns:p14="http://schemas.microsoft.com/office/powerpoint/2010/main" val="1480262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BF366-1D53-4C4D-864D-34CE7A0D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976B1-E0A8-4A36-A4F8-A383F95A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7A28E-AE97-44D0-A0D0-BABB27D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Персональные данные — по категориям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B7713-FBFC-4294-BD50-BEC9767E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Структурные проверки дополняются контекстом: дата или число сами по себе ещё не ПД.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F9393-091C-47A9-86E2-4F4EE328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Личные сведения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5F7B1-D24D-419F-ABE7-D58FFED5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ФИО, дата и место рождения,</a:t>
            </a:r>
          </a:p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гражданство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BB7D7-98EF-4662-BA53-ED62D0A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CF32B-01A3-4868-BF57-73A5B30F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Паспорт и его выдача, ИНН,</a:t>
            </a:r>
          </a:p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водительское удостоверение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5B676-942E-4DC8-995A-EB455B0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Контакты и адреса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4BDAD-A2BA-4505-828C-C1B60F99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Телефон, электронная почта,</a:t>
            </a:r>
          </a:p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личный адрес и его части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EF437-DA38-4D73-BE00-0B44471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148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Финансовые 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3FAF5-1DB3-4C9F-93FD-F878EE6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529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Номер карты, держатель,</a:t>
            </a:r>
          </a:p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защитный код и ПИН-код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0F216-4AFE-4468-9F9D-30E8C05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Контекст уменьшает лишние замены; распознавание произвольного текста не гарантировано.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978354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16437-C874-42BF-A2BD-11164CA0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52D8A-B9EB-4C26-A129-ADFFFFC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27A43-0E4A-4DD2-9FBB-EAC1608F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Чувствительное состояние живёт недолго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CBAA3-F26E-401B-85A9-DAF859F9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Исходный и замаскированный текст, соответствия и правила шифруются перед записью.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C6509-CAB9-4F2D-A579-97678C69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15 минут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33744-585B-49C1-BC28-FA83E9C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после создания записи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D695D-27D8-44A4-A5AD-35E93EF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2 минуты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6D112-F61D-4CFB-BA16-D16189F5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после успешного восстановления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F52C5-251F-4D73-80EB-39248212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AES-GCM · Redis в частной сети</a:t>
            </a:r>
          </a:p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Правила потребителя задаются конфигурацией</a:t>
            </a:r>
          </a:p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В логах и метриках нет исходных ПД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1D8D9-E231-4BB3-B1A8-4DE6D9B4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A2738"/>
                </a:solidFill>
                <a:latin typeface="Arial"/>
                <a:ea typeface="Arial"/>
                <a:cs typeface="Arial"/>
              </a:rPr>
              <a:t>Публичное демо без отдельной авторизации /process: только синтетические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681238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B6491-EBD0-49BD-AD00-3D237D7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061F9-5637-4769-BFC7-9D62DC3D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CA746-F64E-4818-ADC1-6F5803BB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Локально: 1 000 запросов в секунду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89363-BD8D-4EAA-8EEB-F699B981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Полный профиль — 300 секунд, 8 рабочих процессов. Это результат локального стенда.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708B1-CA8A-421C-B40E-4204AD21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300 001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F1364-18F4-493E-8337-5573E35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успешный 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081AE-C255-4FCC-92F5-EF0E762F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21,78 мс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81A26-5BED-4993-A310-EF660FD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задержка p95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41A8E-E24D-4A1C-B506-BAB31B9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B41CE-91E3-477E-A885-64D3A91F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ошибок и 429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89DDC-810D-4A3B-96D2-90CD8F3F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1104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36DE7-0CCA-4803-B5F1-A00C90D1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672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F1 = 1,0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1B370-473D-4866-BF71-AB4343F9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7239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46 синтетических примеров</a:t>
            </a:r>
          </a:p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F1 объединяет точность и полноту обнаружения.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E6845-26D0-4396-AA76-92CC819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Небольшой локальный корпус не заменяет скрытую проверку организаторов.</a:t>
            </a:r>
          </a:p>
        </p:txBody>
      </p:sp>
    </p:spTree>
    <p:extLst>
      <p:ext uri="{BB962C8B-B14F-4D97-AF65-F5344CB8AC3E}">
        <p14:creationId xmlns:p14="http://schemas.microsoft.com/office/powerpoint/2010/main" val="748949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639E5-673B-43C7-B6D7-9BB921A2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EB416-E492-483E-AAF0-A8B54D0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DD31-7C65-41BE-B28B-B27C607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Railway: демо работает, 1 000 RPS не пройдены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DBC80-3C27-4389-904C-61D25D6D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Результаты внешних прогонов 23 сентября 2026 года.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3B61F-F3B4-4503-8614-B957D9EC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100 ЗАПРОСОВ/С · 30 СЕКУНД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18663-4094-47A4-987E-809A6BE5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5191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6715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671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65BDE-4C58-4669-BA71-F4DB662E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911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3 001 запрос · 0 ошибок</a:t>
            </a:r>
          </a:p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p95 = 86,04 мс</a:t>
            </a:r>
          </a:p>
          <a:p xmlns:a="http://schemas.openxmlformats.org/drawingml/2006/main">
            <a:pPr>
              <a:defRPr sz="21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Без 429 и пропущенных запусков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009DA-F477-4E73-B299-B3276864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098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1 000 ЗАПРОСОВ/С · 300 СЕКУНД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02E79-19D9-4C13-9130-AF179B8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5191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64947-2C66-409E-8335-B7BA0E0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51911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≈645 успешных запросов/с</a:t>
            </a:r>
          </a:p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≈33% ошибок; в том числе ≈76 тыс. 429</a:t>
            </a:r>
          </a:p>
          <a:p xmlns:a="http://schemas.openxmlformats.org/drawingml/2006/main">
            <a:pPr>
              <a:defRPr sz="210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p95 ≈10 с · ≈10 тыс. dropped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B5B98-9383-4C4D-97F2-140C1BE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Локальный результат 1 000 RPS нельзя приписывать облачному развёртыванию.</a:t>
            </a:r>
          </a:p>
        </p:txBody>
      </p:sp>
    </p:spTree>
    <p:extLst>
      <p:ext uri="{BB962C8B-B14F-4D97-AF65-F5344CB8AC3E}">
        <p14:creationId xmlns:p14="http://schemas.microsoft.com/office/powerpoint/2010/main" val="847644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D0F19-083F-4EF2-928F-B2CFB0E2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99114-6840-419D-B93B-1DBA4BB5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F98DF-1BEC-4E87-9919-D5DC6DAA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191E"/>
                </a:solidFill>
                <a:latin typeface="Arial"/>
                <a:ea typeface="Arial"/>
                <a:cs typeface="Arial"/>
              </a:rPr>
              <a:t>Демо и подключение через POST /process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8AC92-7D32-4B47-84BE-235A6AFE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049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Приложение отправляет очищенный текст в LLM и возвращает её ответ с тем же payload_id.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F4E4C-8461-4D5E-92B0-3788FA80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ПРИМЕР ЗАПРОСА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8F03C-CA4F-4CAF-8AD5-E7332F68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5953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43EFE-EC6C-4A5D-8DB1-9A9880B1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55245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  "payload": "Напишите на ivan@example.com",</a:t>
            </a:r>
          </a:p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  "payload_id": "demo-001"</a:t>
            </a:r>
          </a:p>
          <a:p xmlns:a="http://schemas.openxmlformats.org/drawingml/2006/main">
            <a:pPr>
              <a:defRPr sz="1875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60DCE-B331-4677-9555-6F599ECB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674E6-B9E3-4D9E-B6E8-7DE8CE26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48025"/>
            <a:ext cx="45243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{ "result":</a:t>
            </a:r>
          </a:p>
          <a:p xmlns:a="http://schemas.openxmlformats.org/drawingml/2006/main">
            <a:pPr>
              <a:defRPr sz="1950" b="0">
                <a:solidFill>
                  <a:srgbClr val="17191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91E"/>
                </a:solidFill>
                <a:latin typeface="Arial"/>
                <a:ea typeface="Arial"/>
                <a:cs typeface="Arial"/>
              </a:rPr>
              <a:t>  "Напишите на &lt;EMAIL_1&gt;"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E964D-8911-44BA-A996-422AE36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Демо / Swagger: llm-proxy-production-84c7.up.railway.app/docs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A95D8-5D49-4CCC-A7C2-AF65962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9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975"/>
                </a:solidFill>
                <a:latin typeface="Arial"/>
                <a:ea typeface="Arial"/>
                <a:cs typeface="Arial"/>
              </a:rPr>
              <a:t>Код: github.com/rp-alpha-vibe/llm-proxy · доступ к приватному репозиторию —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1400367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9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D0828-785C-4B56-BDA0-DEF80721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BE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BEC8"/>
                </a:solidFill>
                <a:latin typeface="Arial"/>
                <a:ea typeface="Arial"/>
                <a:cs typeface="Arial"/>
              </a:rPr>
              <a:t>КРАСНЫЙ KOD  /  АЛЬФАВАЙБ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FA338-CC8F-4458-82A1-0EF97AA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BE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BEC8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8536D-4714-4353-A1D6-01E81C1D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20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Защита данных без потери смысла ответа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A58BA-AC1D-420B-B854-8EAE4455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8F104-42F5-470B-AE9C-A5354CC5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241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Распознаём ПД локальными правилами и контекстом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3A969-93F2-4D69-A4D8-CCAAB83A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A1FDD-D812-42DA-B5FD-79B5C829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099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Заменяем данные и восстанавливаем их в новом ответе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15AA5-6CAD-4FAB-BB21-476D5791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49B4D-DA06-466E-BEF7-0851B12C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957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Храним зашифрованное состояние с ограниченным сроком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5666C-8579-4969-AE15-54DD8D4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A27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A273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94E81-6097-4032-A30A-C907718F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815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Предоставляем работающий HTTP API и облачное демо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49B9B-3D09-474B-9BBA-99377941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BEC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BEC8"/>
                </a:solidFill>
                <a:latin typeface="Arial"/>
                <a:ea typeface="Arial"/>
                <a:cs typeface="Arial"/>
              </a:rPr>
              <a:t>Ограничение: полный профиль Railway не пройден; официальная оценка ещё не подтверждена.</a:t>
            </a:r>
          </a:p>
        </p:txBody>
      </p:sp>
    </p:spTree>
    <p:extLst>
      <p:ext uri="{BB962C8B-B14F-4D97-AF65-F5344CB8AC3E}">
        <p14:creationId xmlns:p14="http://schemas.microsoft.com/office/powerpoint/2010/main" val="200974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2026-09-23T12:20:35.0500000Z</dcterms:created>
  <dcterms:modified xsi:type="dcterms:W3CDTF">2026-09-23T12:20:35.0500000Z</dcterms:modified>
</coreProperties>
</file>