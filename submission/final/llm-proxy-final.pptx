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51db6337ac4b2a" /><Relationship Type="http://schemas.openxmlformats.org/officeDocument/2006/relationships/extended-properties" Target="/docProps/app.xml" Id="R52f6a1540e584ff2" /><Relationship Type="http://schemas.openxmlformats.org/officeDocument/2006/relationships/officeDocument" Target="/ppt/presentation.xml" Id="R935a8565e6ef4d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ffb515002d49f1"/>
  </p:sldMasterIdLst>
  <p:notesMasterIdLst>
    <p:notesMasterId xmlns:r="http://schemas.openxmlformats.org/officeDocument/2006/relationships" r:id="R54a1c375ec5042c4"/>
  </p:notesMasterIdLst>
  <p:sldIdLst>
    <p:sldId xmlns:r="http://schemas.openxmlformats.org/officeDocument/2006/relationships" id="256" r:id="R3cba010125be4ebb"/>
    <p:sldId xmlns:r="http://schemas.openxmlformats.org/officeDocument/2006/relationships" id="257" r:id="R1795380655b54205"/>
    <p:sldId xmlns:r="http://schemas.openxmlformats.org/officeDocument/2006/relationships" id="258" r:id="Rde7dc1b6f20e4ae9"/>
    <p:sldId xmlns:r="http://schemas.openxmlformats.org/officeDocument/2006/relationships" id="259" r:id="R77fed6f0eb50453f"/>
    <p:sldId xmlns:r="http://schemas.openxmlformats.org/officeDocument/2006/relationships" id="260" r:id="R3ba9bac7c08e4002"/>
    <p:sldId xmlns:r="http://schemas.openxmlformats.org/officeDocument/2006/relationships" id="261" r:id="R874ff9d84d434c36"/>
    <p:sldId xmlns:r="http://schemas.openxmlformats.org/officeDocument/2006/relationships" id="262" r:id="R3002020d72304fa0"/>
    <p:sldId xmlns:r="http://schemas.openxmlformats.org/officeDocument/2006/relationships" id="263" r:id="R6a0c976072c34dda"/>
    <p:sldId xmlns:r="http://schemas.openxmlformats.org/officeDocument/2006/relationships" id="264" r:id="R24102b6fcb384ee8"/>
    <p:sldId xmlns:r="http://schemas.openxmlformats.org/officeDocument/2006/relationships" id="265" r:id="R41534ef1356c421a"/>
    <p:sldId xmlns:r="http://schemas.openxmlformats.org/officeDocument/2006/relationships" id="266" r:id="Rb2c8162a9eac43d6"/>
    <p:sldId xmlns:r="http://schemas.openxmlformats.org/officeDocument/2006/relationships" id="267" r:id="R5576195130024682"/>
    <p:sldId xmlns:r="http://schemas.openxmlformats.org/officeDocument/2006/relationships" id="268" r:id="Rcd459ddcd9ae47ab"/>
    <p:sldId xmlns:r="http://schemas.openxmlformats.org/officeDocument/2006/relationships" id="269" r:id="R872b442481164bab"/>
    <p:sldId xmlns:r="http://schemas.openxmlformats.org/officeDocument/2006/relationships" id="270" r:id="R0a379f1a3fb64234"/>
    <p:sldId xmlns:r="http://schemas.openxmlformats.org/officeDocument/2006/relationships" id="271" r:id="Rcdebe7d7d27941df"/>
    <p:sldId xmlns:r="http://schemas.openxmlformats.org/officeDocument/2006/relationships" id="272" r:id="Ra10d835cf43941bf"/>
    <p:sldId xmlns:r="http://schemas.openxmlformats.org/officeDocument/2006/relationships" id="273" r:id="R0799502ab6584793"/>
    <p:sldId xmlns:r="http://schemas.openxmlformats.org/officeDocument/2006/relationships" id="274" r:id="R68ba3a8d074f4103"/>
    <p:sldId xmlns:r="http://schemas.openxmlformats.org/officeDocument/2006/relationships" id="275" r:id="R52e36cd8d4fd4142"/>
    <p:sldId xmlns:r="http://schemas.openxmlformats.org/officeDocument/2006/relationships" id="276" r:id="Rb0dbdef785d149f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c9e2244b8149da" /><Relationship Type="http://schemas.openxmlformats.org/officeDocument/2006/relationships/slideMaster" Target="/ppt/slideMasters/slideMaster1.xml" Id="R58ffb515002d49f1" /><Relationship Type="http://schemas.openxmlformats.org/officeDocument/2006/relationships/notesMaster" Target="/ppt/notesMasters/notesMaster1.xml" Id="R54a1c375ec5042c4" /><Relationship Type="http://schemas.openxmlformats.org/officeDocument/2006/relationships/presProps" Target="/ppt/presProps.xml" Id="R8d4fefe264e24c6c" /><Relationship Type="http://schemas.openxmlformats.org/officeDocument/2006/relationships/tableStyles" Target="/ppt/tableStyles.xml" Id="R9373d19a967f489d" /><Relationship Type="http://schemas.openxmlformats.org/officeDocument/2006/relationships/slide" Target="/ppt/slides/slide1.xml" Id="R3cba010125be4ebb" /><Relationship Type="http://schemas.openxmlformats.org/officeDocument/2006/relationships/slide" Target="/ppt/slides/slide2.xml" Id="R1795380655b54205" /><Relationship Type="http://schemas.openxmlformats.org/officeDocument/2006/relationships/slide" Target="/ppt/slides/slide3.xml" Id="Rde7dc1b6f20e4ae9" /><Relationship Type="http://schemas.openxmlformats.org/officeDocument/2006/relationships/slide" Target="/ppt/slides/slide4.xml" Id="R77fed6f0eb50453f" /><Relationship Type="http://schemas.openxmlformats.org/officeDocument/2006/relationships/slide" Target="/ppt/slides/slide5.xml" Id="R3ba9bac7c08e4002" /><Relationship Type="http://schemas.openxmlformats.org/officeDocument/2006/relationships/slide" Target="/ppt/slides/slide6.xml" Id="R874ff9d84d434c36" /><Relationship Type="http://schemas.openxmlformats.org/officeDocument/2006/relationships/slide" Target="/ppt/slides/slide7.xml" Id="R3002020d72304fa0" /><Relationship Type="http://schemas.openxmlformats.org/officeDocument/2006/relationships/slide" Target="/ppt/slides/slide8.xml" Id="R6a0c976072c34dda" /><Relationship Type="http://schemas.openxmlformats.org/officeDocument/2006/relationships/slide" Target="/ppt/slides/slide9.xml" Id="R24102b6fcb384ee8" /><Relationship Type="http://schemas.openxmlformats.org/officeDocument/2006/relationships/slide" Target="/ppt/slides/slide10.xml" Id="R41534ef1356c421a" /><Relationship Type="http://schemas.openxmlformats.org/officeDocument/2006/relationships/slide" Target="/ppt/slides/slide11.xml" Id="Rb2c8162a9eac43d6" /><Relationship Type="http://schemas.openxmlformats.org/officeDocument/2006/relationships/slide" Target="/ppt/slides/slide12.xml" Id="R5576195130024682" /><Relationship Type="http://schemas.openxmlformats.org/officeDocument/2006/relationships/slide" Target="/ppt/slides/slide13.xml" Id="Rcd459ddcd9ae47ab" /><Relationship Type="http://schemas.openxmlformats.org/officeDocument/2006/relationships/slide" Target="/ppt/slides/slide14.xml" Id="R872b442481164bab" /><Relationship Type="http://schemas.openxmlformats.org/officeDocument/2006/relationships/slide" Target="/ppt/slides/slide15.xml" Id="R0a379f1a3fb64234" /><Relationship Type="http://schemas.openxmlformats.org/officeDocument/2006/relationships/slide" Target="/ppt/slides/slide16.xml" Id="Rcdebe7d7d27941df" /><Relationship Type="http://schemas.openxmlformats.org/officeDocument/2006/relationships/slide" Target="/ppt/slides/slide17.xml" Id="Ra10d835cf43941bf" /><Relationship Type="http://schemas.openxmlformats.org/officeDocument/2006/relationships/slide" Target="/ppt/slides/slide18.xml" Id="R0799502ab6584793" /><Relationship Type="http://schemas.openxmlformats.org/officeDocument/2006/relationships/slide" Target="/ppt/slides/slide19.xml" Id="R68ba3a8d074f4103" /><Relationship Type="http://schemas.openxmlformats.org/officeDocument/2006/relationships/slide" Target="/ppt/slides/slide20.xml" Id="R52e36cd8d4fd4142" /><Relationship Type="http://schemas.openxmlformats.org/officeDocument/2006/relationships/slide" Target="/ppt/slides/slide21.xml" Id="Rb0dbdef785d149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d14b5023d341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7da642f62a4d03" /><Relationship Type="http://schemas.openxmlformats.org/officeDocument/2006/relationships/notesMaster" Target="/ppt/notesMasters/notesMaster1.xml" Id="R7f93e410ccbe45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095928e6284ca6" /><Relationship Type="http://schemas.openxmlformats.org/officeDocument/2006/relationships/notesMaster" Target="/ppt/notesMasters/notesMaster1.xml" Id="R5733a205cee247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648d6699f44550" /><Relationship Type="http://schemas.openxmlformats.org/officeDocument/2006/relationships/notesMaster" Target="/ppt/notesMasters/notesMaster1.xml" Id="R25040406d3e744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3c91ebda9b486b" /><Relationship Type="http://schemas.openxmlformats.org/officeDocument/2006/relationships/notesMaster" Target="/ppt/notesMasters/notesMaster1.xml" Id="R21fd0836ec9245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e224b1abcd420b" /><Relationship Type="http://schemas.openxmlformats.org/officeDocument/2006/relationships/notesMaster" Target="/ppt/notesMasters/notesMaster1.xml" Id="R727de8b452d94d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2ce650397d4c4b" /><Relationship Type="http://schemas.openxmlformats.org/officeDocument/2006/relationships/notesMaster" Target="/ppt/notesMasters/notesMaster1.xml" Id="Rac51ddec403f4b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31ce2288d247d0" /><Relationship Type="http://schemas.openxmlformats.org/officeDocument/2006/relationships/notesMaster" Target="/ppt/notesMasters/notesMaster1.xml" Id="Re2ef7ae316c140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3e7ac4ef6f4d4f" /><Relationship Type="http://schemas.openxmlformats.org/officeDocument/2006/relationships/notesMaster" Target="/ppt/notesMasters/notesMaster1.xml" Id="R872bbfcfd33946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a4a723f6094211" /><Relationship Type="http://schemas.openxmlformats.org/officeDocument/2006/relationships/notesMaster" Target="/ppt/notesMasters/notesMaster1.xml" Id="Rb1b0935d2bad45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503b7509fd14913" /><Relationship Type="http://schemas.openxmlformats.org/officeDocument/2006/relationships/notesMaster" Target="/ppt/notesMasters/notesMaster1.xml" Id="R6c35309f4fd649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d09e9203505406a" /><Relationship Type="http://schemas.openxmlformats.org/officeDocument/2006/relationships/notesMaster" Target="/ppt/notesMasters/notesMaster1.xml" Id="R8c5d84023ed149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2b7d2c67074506" /><Relationship Type="http://schemas.openxmlformats.org/officeDocument/2006/relationships/notesMaster" Target="/ppt/notesMasters/notesMaster1.xml" Id="R9c8e149e41b4445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4c2102b2de4025" /><Relationship Type="http://schemas.openxmlformats.org/officeDocument/2006/relationships/notesMaster" Target="/ppt/notesMasters/notesMaster1.xml" Id="R8c046dd8703542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7489f2ddf8943f2" /><Relationship Type="http://schemas.openxmlformats.org/officeDocument/2006/relationships/notesMaster" Target="/ppt/notesMasters/notesMaster1.xml" Id="Rf3aeaba440e54ee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738a5c784a4160" /><Relationship Type="http://schemas.openxmlformats.org/officeDocument/2006/relationships/notesMaster" Target="/ppt/notesMasters/notesMaster1.xml" Id="Rfbd328b0df4c44b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cdab86d9e3a4790" /><Relationship Type="http://schemas.openxmlformats.org/officeDocument/2006/relationships/notesMaster" Target="/ppt/notesMasters/notesMaster1.xml" Id="R179a464c92d149f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1ab3cf511b548c7" /><Relationship Type="http://schemas.openxmlformats.org/officeDocument/2006/relationships/notesMaster" Target="/ppt/notesMasters/notesMaster1.xml" Id="Rb634a3a8bb8442e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f3749a7c5854c34" /><Relationship Type="http://schemas.openxmlformats.org/officeDocument/2006/relationships/notesMaster" Target="/ppt/notesMasters/notesMaster1.xml" Id="Rd70b6baf7dbf41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0b01b09621a4023" /><Relationship Type="http://schemas.openxmlformats.org/officeDocument/2006/relationships/notesMaster" Target="/ppt/notesMasters/notesMaster1.xml" Id="Rdd64488c3825400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e464a7e935147dd" /><Relationship Type="http://schemas.openxmlformats.org/officeDocument/2006/relationships/notesMaster" Target="/ppt/notesMasters/notesMaster1.xml" Id="Rc05e65194b6c41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f57138a4e0a46c4" /><Relationship Type="http://schemas.openxmlformats.org/officeDocument/2006/relationships/notesMaster" Target="/ppt/notesMasters/notesMaster1.xml" Id="R294e9054367842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https://github.com/rp-alpha-vibe/llm-proxy/blob/main/docs/MASKING.md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https://github.com/rp-alpha-vibe/llm-proxy/blob/main/docs/DECISIONS.md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https://github.com/rp-alpha-vibe/llm-proxy/blob/main/docs/DECISIONS.md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https://github.com/rp-alpha-vibe/llm-proxy/blob/main/docs/TASK_IMPROVE_PII_DETECTION.md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https://github.com/rp-alpha-vibe/llm-proxy/blob/main/docs/MASKING.md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https://github.com/rp-alpha-vibe/llm-proxy/blob/main/docs/MASKING.md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https://github.com/rp-alpha-vibe/llm-proxy/blob/main/docs/MASKING.md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https://github.com/rp-alpha-vibe/llm-proxy/blob/main/config/systems.example.yaml</a:t>
            </a:r>
          </a:p>
          <a:p xmlns:a="http://schemas.openxmlformats.org/drawingml/2006/main">
            <a:r>
              <a:t>https://github.com/rp-alpha-vibe/llm-proxy/blob/main/README.md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https://github.com/rp-alpha-vibe/llm-proxy/blob/main/docs/MASKING.md</a:t>
            </a:r>
          </a:p>
          <a:p xmlns:a="http://schemas.openxmlformats.org/drawingml/2006/main">
            <a:r>
              <a:t>https://github.com/rp-alpha-vibe/llm-proxy/blob/main/docs/DEPLOYMENT_RAILWAY.md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https://github.com/rp-alpha-vibe/llm-proxy/blob/main/src/llm_proxy/observability/metrics.py</a:t>
            </a:r>
          </a:p>
          <a:p xmlns:a="http://schemas.openxmlformats.org/drawingml/2006/main">
            <a:r>
              <a:t>https://github.com/rp-alpha-vibe/llm-proxy/blob/main/src/llm_proxy/observability/logging.py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https://github.com/rp-alpha-vibe/llm-proxy/blob/main/README.md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https://github.com/rp-alpha-vibe/llm-proxy/blob/main/docs/TASK_IMPROVE_PII_DETECTION.md</a:t>
            </a:r>
          </a:p>
          <a:p xmlns:a="http://schemas.openxmlformats.org/drawingml/2006/main">
            <a:r>
              <a:t>https://github.com/rp-alpha-vibe/llm-proxy/blob/main/scripts/eval_labeled_sample.py</a:t>
            </a:r>
          </a:p>
          <a:p xmlns:a="http://schemas.openxmlformats.org/drawingml/2006/main">
            <a:r>
              <a:t>https://github.com/rp-alpha-vibe/llm-proxy/blob/main/tests/test_questionnaire_detection.py</a:t>
            </a:r>
          </a:p>
          <a:p xmlns:a="http://schemas.openxmlformats.org/drawingml/2006/main">
            <a:r>
              <a:t>https://github.com/rp-alpha-vibe/llm-proxy/commit/73153457f2b6aba31b61d933b45636d56ee961ee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https://github.com/rp-alpha-vibe/llm-proxy/blob/main/docs/MASKING.md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https://github.com/rp-alpha-vibe/llm-proxy/blob/main/submission/railway-load-probe-2026-09-23.md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https://github.com/rp-alpha-vibe/llm-proxy/blob/main/config/systems.example.yaml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https://github.com/rp-alpha-vibe/llm-proxy/blob/main/README.md</a:t>
            </a:r>
          </a:p>
          <a:p xmlns:a="http://schemas.openxmlformats.org/drawingml/2006/main">
            <a:r>
              <a:t>https://github.com/rp-alpha-vibe/llm-proxy/blob/main/submission/railway-load-probe-2026-09-23.md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https://github.com/rp-alpha-vibe/llm-proxy/blob/main/README.md</a:t>
            </a:r>
          </a:p>
          <a:p xmlns:a="http://schemas.openxmlformats.org/drawingml/2006/main">
            <a:r>
              <a:t>https://github.com/rp-alpha-vibe/llm-proxy/blob/main/submission/CHECKLIST.md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https://github.com/rp-alpha-vibe/llm-proxy/blob/main/README.md</a:t>
            </a:r>
          </a:p>
          <a:p xmlns:a="http://schemas.openxmlformats.org/drawingml/2006/main">
            <a:r>
              <a:t>https://github.com/rp-alpha-vibe/llm-proxy/blob/main/config/systems.example.yaml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условия утверждений: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https://github.com/rp-alpha-vibe/llm-proxy/blob/main/submission/railway-load-probe-2026-09-23.md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4b3b6ed6774c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9b324f53a74183" /><Relationship Type="http://schemas.openxmlformats.org/officeDocument/2006/relationships/slideLayout" Target="/ppt/slideLayouts/slideLayout1.xml" Id="Rcf57bab086bf4c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57bab086bf4c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bc9bb2d5b40d6" /><Relationship Type="http://schemas.openxmlformats.org/officeDocument/2006/relationships/notesSlide" Target="/ppt/notesSlides/notesSlide1.xml" Id="Rdc9c6d0a1f0743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b67b0953d4522" /><Relationship Type="http://schemas.openxmlformats.org/officeDocument/2006/relationships/notesSlide" Target="/ppt/notesSlides/notesSlide2.xml" Id="R979b1689f69044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411fec79d4817" /><Relationship Type="http://schemas.openxmlformats.org/officeDocument/2006/relationships/notesSlide" Target="/ppt/notesSlides/notesSlide3.xml" Id="Re160defa91b04a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5ce1779d64fb2" /><Relationship Type="http://schemas.openxmlformats.org/officeDocument/2006/relationships/notesSlide" Target="/ppt/notesSlides/notesSlide4.xml" Id="R315140b2655a46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bcfe7390b4e09" /><Relationship Type="http://schemas.openxmlformats.org/officeDocument/2006/relationships/notesSlide" Target="/ppt/notesSlides/notesSlide5.xml" Id="R3f9a310d830a40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011e735e74ced" /><Relationship Type="http://schemas.openxmlformats.org/officeDocument/2006/relationships/notesSlide" Target="/ppt/notesSlides/notesSlide6.xml" Id="R2ddb991bb23248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66da787ea4634" /><Relationship Type="http://schemas.openxmlformats.org/officeDocument/2006/relationships/notesSlide" Target="/ppt/notesSlides/notesSlide7.xml" Id="R8cc8d7ba248549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f106d808a41eb" /><Relationship Type="http://schemas.openxmlformats.org/officeDocument/2006/relationships/notesSlide" Target="/ppt/notesSlides/notesSlide8.xml" Id="R910ffb0f6a0f49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9d1f22f464a9c" /><Relationship Type="http://schemas.openxmlformats.org/officeDocument/2006/relationships/notesSlide" Target="/ppt/notesSlides/notesSlide9.xml" Id="Re613d03434354a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398bde4e44f38" /><Relationship Type="http://schemas.openxmlformats.org/officeDocument/2006/relationships/notesSlide" Target="/ppt/notesSlides/notesSlide10.xml" Id="R0f961488ae134b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57b75bc6043a6" /><Relationship Type="http://schemas.openxmlformats.org/officeDocument/2006/relationships/notesSlide" Target="/ppt/notesSlides/notesSlide11.xml" Id="Rd2fe99acb9fe49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06020a22e4f49" /><Relationship Type="http://schemas.openxmlformats.org/officeDocument/2006/relationships/notesSlide" Target="/ppt/notesSlides/notesSlide12.xml" Id="R1c987f8c096e4e7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80a1fa73e41ac" /><Relationship Type="http://schemas.openxmlformats.org/officeDocument/2006/relationships/notesSlide" Target="/ppt/notesSlides/notesSlide13.xml" Id="Rce2ba74fce9f41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bbd6169e0450b" /><Relationship Type="http://schemas.openxmlformats.org/officeDocument/2006/relationships/notesSlide" Target="/ppt/notesSlides/notesSlide14.xml" Id="Rad0b88316abb426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3d46d59f24d19" /><Relationship Type="http://schemas.openxmlformats.org/officeDocument/2006/relationships/notesSlide" Target="/ppt/notesSlides/notesSlide15.xml" Id="R86cc9781e491493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511a86f754762" /><Relationship Type="http://schemas.openxmlformats.org/officeDocument/2006/relationships/notesSlide" Target="/ppt/notesSlides/notesSlide16.xml" Id="R79acc66de71b486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3ee42b8544598" /><Relationship Type="http://schemas.openxmlformats.org/officeDocument/2006/relationships/notesSlide" Target="/ppt/notesSlides/notesSlide17.xml" Id="R26911324bb5a45c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725d65f3945d9" /><Relationship Type="http://schemas.openxmlformats.org/officeDocument/2006/relationships/hyperlink" Target="https://llm-proxy-production-84c7.up.railway.app" TargetMode="External" Id="R56233c9c35ef4671" /><Relationship Type="http://schemas.openxmlformats.org/officeDocument/2006/relationships/hyperlink" Target="https://github.com/rp-alpha-vibe/llm-proxy" TargetMode="External" Id="R00b69c219bce4cd8" /><Relationship Type="http://schemas.openxmlformats.org/officeDocument/2006/relationships/notesSlide" Target="/ppt/notesSlides/notesSlide18.xml" Id="R8d3426c243ca4e9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fc925cf0e04d0d" /><Relationship Type="http://schemas.openxmlformats.org/officeDocument/2006/relationships/notesSlide" Target="/ppt/notesSlides/notesSlide19.xml" Id="R01cdf212088940f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b7f78c02d4fd5" /><Relationship Type="http://schemas.openxmlformats.org/officeDocument/2006/relationships/notesSlide" Target="/ppt/notesSlides/notesSlide20.xml" Id="R7faadced0c8a4b7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e266cefc0c4e42" /><Relationship Type="http://schemas.openxmlformats.org/officeDocument/2006/relationships/notesSlide" Target="/ppt/notesSlides/notesSlide21.xml" Id="R6f1eb884c1ff42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23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714B7C9A-4A5A-4AE7-B388-7B7592AA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8B3B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A8B3B6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7C187C8-E510-4CE5-931B-F1BD83C8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A8B3B6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A8B3B6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478D4F4-F576-4BF1-80D7-2AE0764E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Защита персональных данных</a:t>
            </a:r>
          </a:p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при работе с языковой моделью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1BF9B6D-BDCB-4F32-B15D-FF1C9140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7950"/>
            <a:ext cx="10287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Наш сервис скрывает сведения о человеке до отправки запроса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 восстанавливает их в полученном ответе.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9A2D06C-60FD-46DC-BC0D-6AA0EEE0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0175"/>
            <a:ext cx="4000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llm-proxy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303A1DC-F199-4751-A7CF-0F7749AF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3B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A8B3B6"/>
                </a:solidFill>
                <a:latin typeface="DejaVu Sans"/>
                <a:ea typeface="DejaVu Sans"/>
                <a:cs typeface="DejaVu Sans"/>
              </a:rPr>
              <a:t>Команда Красный Kod  ·  Хакатон АльфаВайб  ·  23 сентября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3427926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0">
            <a:extLst xmlns:a="http://schemas.openxmlformats.org/drawingml/2006/main">
              <a:ext uri="{FF2B5EF4-FFF2-40B4-BE49-F238E27FC236}">
                <a16:creationId xmlns:a16="http://schemas.microsoft.com/office/drawing/2014/main" id="{FE836B7F-5115-4CD1-AB14-7C1B8E14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820B0D7-192A-4162-A46C-E3569C25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0D1BD9C-8CDE-43CA-89FD-C3253975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Задача и пять условий успеха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91CF430-FCF8-4830-999F-4A0DC647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Для каждого требования показываем реализацию и способ проверки.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36CEE00-4F32-4D62-9AFE-69F02F7C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5429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F174444-560A-494C-A724-D06DC839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705100"/>
            <a:ext cx="2228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Встраивание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480D2390-336D-4C5B-A9C9-3693E66E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705100"/>
            <a:ext cx="7905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Один POST /process без обращения сервиса к модели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9BED0148-0FE3-479A-BC86-E4026C7E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52800"/>
            <a:ext cx="5429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267918EC-A2C0-4149-8D64-352805E1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352800"/>
            <a:ext cx="2228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Все категории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09FD85E9-72A4-422C-B981-3CE92D35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352800"/>
            <a:ext cx="7905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Правила для 22 позиций ТЗ; качество свободного текста дорабатывается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74F94BD6-CC9D-4DC7-BA16-E3664FE6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5429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0D6BC50A-2CC4-46C1-98C5-141640C1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000500"/>
            <a:ext cx="2228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Защита данных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C27D5791-E8D8-4189-9281-2293C8EB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000500"/>
            <a:ext cx="7905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Шифрование временной записи и журналы без исходных значений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A4807704-62F0-4F0F-A594-B8C3030B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48200"/>
            <a:ext cx="5429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59AE1353-1B4C-49DA-922D-1EE493DB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648200"/>
            <a:ext cx="2228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Качество</a:t>
            </a:r>
          </a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60565FDD-4C8F-4B70-9E5F-14D9D1E8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648200"/>
            <a:ext cx="7905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Тесты и точное восстановление; официальный порог 95% не подтверждён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09768D4A-72D0-404A-8742-996223D3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5429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18" name="text-17">
            <a:extLst xmlns:a="http://schemas.openxmlformats.org/drawingml/2006/main">
              <a:ext uri="{FF2B5EF4-FFF2-40B4-BE49-F238E27FC236}">
                <a16:creationId xmlns:a16="http://schemas.microsoft.com/office/drawing/2014/main" id="{67636D78-5B8B-4210-9592-40280499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5295900"/>
            <a:ext cx="2228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Нагрузка</a:t>
            </a:r>
          </a:p>
        </p:txBody>
      </p:sp>
      <p:sp>
        <p:nvSpPr>
          <p:cNvPr id="19" name="text-18">
            <a:extLst xmlns:a="http://schemas.openxmlformats.org/drawingml/2006/main">
              <a:ext uri="{FF2B5EF4-FFF2-40B4-BE49-F238E27FC236}">
                <a16:creationId xmlns:a16="http://schemas.microsoft.com/office/drawing/2014/main" id="{454868C8-4435-48E3-90FF-4E2C5439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295900"/>
            <a:ext cx="7905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1000 операций/с локально; публичный сервер этот режим не выдержал</a:t>
            </a:r>
          </a:p>
        </p:txBody>
      </p:sp>
    </p:spTree>
    <p:extLst>
      <p:ext uri="{BB962C8B-B14F-4D97-AF65-F5344CB8AC3E}">
        <p14:creationId xmlns:p14="http://schemas.microsoft.com/office/powerpoint/2010/main" val="11600817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0">
            <a:extLst xmlns:a="http://schemas.openxmlformats.org/drawingml/2006/main">
              <a:ext uri="{FF2B5EF4-FFF2-40B4-BE49-F238E27FC236}">
                <a16:creationId xmlns:a16="http://schemas.microsoft.com/office/drawing/2014/main" id="{78F8C7C1-41B9-4887-B218-961F072C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D70744D-0219-4DCE-BB8D-A18B3CB8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AAF527D-77BB-40E1-BB5C-733FD635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Место сервиса в цепочке запросов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DD21188-3BEA-48BD-AA08-0393C298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Приложение управляет обращением к модели. Наш сервис обрабатывает текст до и после него.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2A8E628-C681-465B-940D-46923C00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194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ПРИЛОЖЕНИЕ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EF1465AE-A9A3-407D-B299-5C60E068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57575"/>
            <a:ext cx="2343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Исходный запрос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C49649AF-8948-4B9F-A42F-D606AA13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2766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2850" b="0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→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0670C7A8-6DEB-4C41-9043-91C3039C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194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НАШ СЕРВИС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970A014D-567B-40E5-8CC7-B7BA5896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57575"/>
            <a:ext cx="2343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Поиск и замена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471165AA-9C8F-4358-8527-12891B0F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2766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2850" b="0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→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89446B86-9196-4717-94F1-1AF7A7F2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194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ПРИЛОЖЕНИЕ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35DCCFAF-77C9-43D7-ADB9-4FC41110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57575"/>
            <a:ext cx="2343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Очищенный текст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89B08E7A-BF61-4E2B-BBAF-CFC7B607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276600"/>
            <a:ext cx="38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2850" b="0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→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4F887BAD-F185-4C5C-980C-69E0DE7B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0194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ЯЗЫКОВАЯ МОДЕЛЬ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548651D4-297E-44B8-832D-2AD8C229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457575"/>
            <a:ext cx="2343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Ответ</a:t>
            </a:r>
          </a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2501C299-61D0-450C-8C1A-B33ACD9C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895850"/>
            <a:ext cx="404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Возвращаемся тем же путём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3AF140AF-E41A-4741-A769-2BD4A442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400675"/>
            <a:ext cx="1038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Приложение передаёт ответ модели нашему сервису с прежним идентификатором.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Сервис восстанавливает известные обозначения.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11537715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0">
            <a:extLst xmlns:a="http://schemas.openxmlformats.org/drawingml/2006/main">
              <a:ext uri="{FF2B5EF4-FFF2-40B4-BE49-F238E27FC236}">
                <a16:creationId xmlns:a16="http://schemas.microsoft.com/office/drawing/2014/main" id="{679BDD49-B84D-406D-89F6-14539B38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0CB6289-E8C6-4C54-8D5A-10E3ADD8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6B298BA-A686-4F1E-AEE7-7A4AC8D9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Архитектура: приложение и временная память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8B72A6B-7463-46D0-83C7-73C4DEE3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Одна служба обрабатывает оба направления. Общая временная запись доступна её рабочим процессам.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C49EFA6-687F-4303-92DC-3DA55ACB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90850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Приложение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256718A-7B3A-43A0-A396-829CB253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90900"/>
            <a:ext cx="20288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Отправляет текст</a:t>
            </a:r>
          </a:p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 получает ответ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A3FC72B7-475F-443E-88C4-84A74D6F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286125"/>
            <a:ext cx="38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→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AF296E12-B4E8-491D-B6DE-414F3EF1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990850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HTTP-вход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CF58B9E6-648B-4906-A223-919E6A7E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390900"/>
            <a:ext cx="20288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POST /process</a:t>
            </a:r>
          </a:p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проверяет формат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3EFC7F77-16D1-439A-A404-13441B64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86125"/>
            <a:ext cx="38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→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683D80CA-EDD1-4553-A6E8-84AA6D6B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990850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Правила системы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86ED88CA-9849-4EF8-A3E3-4B5D2CCB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3390900"/>
            <a:ext cx="20288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Какие категории</a:t>
            </a:r>
          </a:p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допустимы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CB5FDF94-F9DE-4B92-AB67-EBD03D7B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86125"/>
            <a:ext cx="38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→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E395BA19-46D3-4C46-A93A-ED43DB2A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90850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Поиск и замена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B8F52EDD-7B0B-4B2A-BE2C-E6155F45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390900"/>
            <a:ext cx="20288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Обнаружение, маска,</a:t>
            </a:r>
          </a:p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восстановление</a:t>
            </a:r>
          </a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F8D947C4-890B-4052-A014-49E44886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286125"/>
            <a:ext cx="38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→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CE4A50AA-E5C8-44A1-8D40-7707904D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90850"/>
            <a:ext cx="1952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Временная запись</a:t>
            </a:r>
          </a:p>
        </p:txBody>
      </p:sp>
      <p:sp>
        <p:nvSpPr>
          <p:cNvPr id="18" name="text-17">
            <a:extLst xmlns:a="http://schemas.openxmlformats.org/drawingml/2006/main">
              <a:ext uri="{FF2B5EF4-FFF2-40B4-BE49-F238E27FC236}">
                <a16:creationId xmlns:a16="http://schemas.microsoft.com/office/drawing/2014/main" id="{B48B5B27-8CFF-47D5-9DA1-C7ABA62B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390900"/>
            <a:ext cx="19716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Redis: шифрование</a:t>
            </a:r>
          </a:p>
          <a:p xmlns:a="http://schemas.openxmlformats.org/drawingml/2006/main">
            <a:pPr algn="l">
              <a:def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 срок хранения</a:t>
            </a:r>
          </a:p>
        </p:txBody>
      </p:sp>
      <p:sp>
        <p:nvSpPr>
          <p:cNvPr id="19" name="text-18">
            <a:extLst xmlns:a="http://schemas.openxmlformats.org/drawingml/2006/main">
              <a:ext uri="{FF2B5EF4-FFF2-40B4-BE49-F238E27FC236}">
                <a16:creationId xmlns:a16="http://schemas.microsoft.com/office/drawing/2014/main" id="{6EACEFDE-345F-4165-AF85-CAAD9A00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91100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Журнал и метрики</a:t>
            </a:r>
          </a:p>
        </p:txBody>
      </p:sp>
      <p:sp>
        <p:nvSpPr>
          <p:cNvPr id="20" name="text-19">
            <a:extLst xmlns:a="http://schemas.openxmlformats.org/drawingml/2006/main">
              <a:ext uri="{FF2B5EF4-FFF2-40B4-BE49-F238E27FC236}">
                <a16:creationId xmlns:a16="http://schemas.microsoft.com/office/drawing/2014/main" id="{36ED860C-B439-4CD0-91A0-B5D7E83C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2575"/>
            <a:ext cx="10287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Результат, типы и число найденных данных, длительность этапов. Исходные значения не записываются.</a:t>
            </a:r>
          </a:p>
        </p:txBody>
      </p:sp>
      <p:sp>
        <p:nvSpPr>
          <p:cNvPr id="21" name="text-20">
            <a:extLst xmlns:a="http://schemas.openxmlformats.org/drawingml/2006/main">
              <a:ext uri="{FF2B5EF4-FFF2-40B4-BE49-F238E27FC236}">
                <a16:creationId xmlns:a16="http://schemas.microsoft.com/office/drawing/2014/main" id="{F897F6A1-FFFD-47D2-819F-8DF02906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Redis доступен приложению по внутренней сети; языковую модель вызывает приложение.</a:t>
            </a:r>
          </a:p>
        </p:txBody>
      </p:sp>
    </p:spTree>
    <p:extLst>
      <p:ext uri="{BB962C8B-B14F-4D97-AF65-F5344CB8AC3E}">
        <p14:creationId xmlns:p14="http://schemas.microsoft.com/office/powerpoint/2010/main" val="20915998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0">
            <a:extLst xmlns:a="http://schemas.openxmlformats.org/drawingml/2006/main">
              <a:ext uri="{FF2B5EF4-FFF2-40B4-BE49-F238E27FC236}">
                <a16:creationId xmlns:a16="http://schemas.microsoft.com/office/drawing/2014/main" id="{50EA8A51-D22D-45AA-85B2-C05C4698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480AB1C-90F6-46D9-91C0-10DE7F63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6986631-2A38-44FC-8EE3-35DB76B8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Почему этот стек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6C5A709-080C-4A25-B576-08619E44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Для задачи нужны быстрый локальный поиск, короткое хранение соответствий и простой HTTP-интерфейс.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B503375-FCF5-48AE-9DE4-77AEAC59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95600"/>
            <a:ext cx="33718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Python + FastAPI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E2674656-2CB9-4F4B-A369-2EC34933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95600"/>
            <a:ext cx="72199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Правила работы с текстом и проверяемый HTTP-контракт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772F94E9-796F-438A-904D-9A2F370C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00450"/>
            <a:ext cx="33718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Несколько процессов Uvicorn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71B3E87C-86DE-4468-B7B8-12221B6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600450"/>
            <a:ext cx="72199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Обработка запросов одновременно; число процессов зависит от ресурсов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0B7620CD-B777-41C7-94C1-B7924F22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05300"/>
            <a:ext cx="33718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Redis + AES-GCM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6F89C4CA-3263-406F-8B0D-2D2859DF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305300"/>
            <a:ext cx="72199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Общая временная память, шифрование с проверкой целостности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3A710691-4B03-4A0B-A215-CBBA021F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10150"/>
            <a:ext cx="33718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Docker + Prometheus + k6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A7A33BBA-58F0-4997-A1CA-FF4792C7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010150"/>
            <a:ext cx="72199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Повторяемое развёртывание, рабочие показатели и нагрузочные проверки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D81D12D7-3CF5-4DE5-B0FB-70A93085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Поиск не вызывает сторонний сервис. База постоянного хранения и очередь сообщений задачу не упрощают.</a:t>
            </a:r>
          </a:p>
        </p:txBody>
      </p:sp>
    </p:spTree>
    <p:extLst>
      <p:ext uri="{BB962C8B-B14F-4D97-AF65-F5344CB8AC3E}">
        <p14:creationId xmlns:p14="http://schemas.microsoft.com/office/powerpoint/2010/main" val="809665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0">
            <a:extLst xmlns:a="http://schemas.openxmlformats.org/drawingml/2006/main">
              <a:ext uri="{FF2B5EF4-FFF2-40B4-BE49-F238E27FC236}">
                <a16:creationId xmlns:a16="http://schemas.microsoft.com/office/drawing/2014/main" id="{CB980E1E-A948-4FC7-ABD6-A389B0BB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C8E3B2AE-BCDB-486F-8931-474B52A4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081BD5B-8CE1-47EB-88CF-2BFEEDEA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Какие данные ищем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8A29867-4DC6-484E-94E0-4FEAE6DB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Правила предусмотрены для всех 22 обязательных позиций ТЗ. Надёжность вне размеченных анкет требует проверки.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BCE2C77-B31E-43E8-957E-5D0C0359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62275"/>
            <a:ext cx="2609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О человеке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2A946964-54AB-464C-9D13-E232B6D4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2571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ФИО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Дата рождения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Место рождения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Гражданство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F50A91A-8EB0-48E3-AA1A-CC41AF65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962275"/>
            <a:ext cx="2609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Документы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95817583-3838-4620-BD4E-72D1B82F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381375"/>
            <a:ext cx="2571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Паспорт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Кем выдан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Код подразделения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Дата выдачи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Водительские права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ИНН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0207CC34-06B3-47A3-9BCB-FA98F812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62275"/>
            <a:ext cx="2609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Адрес и связь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0BAE776D-E57D-4CCE-ACDE-D5FC656E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81375"/>
            <a:ext cx="2571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Страна · индекс · город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Улица · дом · квартира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Телефон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Электронная почта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9B59A23A-3086-442D-84C0-1ACD05DE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62275"/>
            <a:ext cx="2609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Банковские данные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9223724B-2C91-453B-AB50-E47F6D0C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381375"/>
            <a:ext cx="2571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Номер карты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Защитный код CVV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ПИН-код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Имя держателя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0A70064E-1CDB-4713-B218-097A9BAC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Наличие правила не означает 100% обнаружения в произвольном тексте; подробный список дан в приложении.</a:t>
            </a:r>
          </a:p>
        </p:txBody>
      </p:sp>
    </p:spTree>
    <p:extLst>
      <p:ext uri="{BB962C8B-B14F-4D97-AF65-F5344CB8AC3E}">
        <p14:creationId xmlns:p14="http://schemas.microsoft.com/office/powerpoint/2010/main" val="13431417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0">
            <a:extLst xmlns:a="http://schemas.openxmlformats.org/drawingml/2006/main">
              <a:ext uri="{FF2B5EF4-FFF2-40B4-BE49-F238E27FC236}">
                <a16:creationId xmlns:a16="http://schemas.microsoft.com/office/drawing/2014/main" id="{40B02826-9C0D-42DD-8A59-AFBED417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42C4623-B0A7-48A3-97D7-39668835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8152D4D-6D27-4C76-B1DE-068F06CD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Как находим сведения о человеке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E4E3822-2B77-49DE-A70C-A3542C37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Сначала получаем кандидатов, затем проверяем их смысл и выбираем точные границы замены.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E7C8CB2-9B84-4A2A-88EF-5A68D87D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00350"/>
            <a:ext cx="61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C5BC9B1-9CD3-4A6A-BC81-B4B2A68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00350"/>
            <a:ext cx="4543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Форма записи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3CC1612-9699-4633-AA57-0D7251BF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4524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Телефон, почта, паспорт, карта и ИНН ищутся по виду и контрольным признакам.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7BD1B00-BCFA-4717-9B25-43D65F3A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00350"/>
            <a:ext cx="61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5744122B-E1E9-45CD-B7CF-A53426B9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800350"/>
            <a:ext cx="44862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Окружающие слова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E1F11738-6BC6-4188-A46A-2FF10F57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286125"/>
            <a:ext cx="4467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ФИО, даты, адрес и защитные коды требуют подтверждающего контекста.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E8CEA6FA-87C3-4699-B743-11622F5A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52925"/>
            <a:ext cx="61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0BCAF7DB-D2DA-42FE-AB85-9CDB684D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352925"/>
            <a:ext cx="4543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Пересечения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4B34BA12-9324-4F32-9C5F-FE2DD55A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38700"/>
            <a:ext cx="4524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Из нескольких находок на одном месте оставляем подходящую по приоритету.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8EDDB3B1-5437-42F1-9751-C31C33F4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352925"/>
            <a:ext cx="61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DAE6A5E2-0CDB-43D8-AD1F-BC6C8D02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352925"/>
            <a:ext cx="44862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Границы</a:t>
            </a:r>
          </a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A38985D4-AA9F-487F-AFDD-DC215149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38700"/>
            <a:ext cx="4467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Замене подлежит найденное значение; соседний текст сохраняется.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B8087595-7359-4527-A8EB-A8647452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«Дата рождения: 10.01.1990» требует защиты; обычную дату встречи правило не должно принимать за неё.</a:t>
            </a:r>
          </a:p>
        </p:txBody>
      </p:sp>
    </p:spTree>
    <p:extLst>
      <p:ext uri="{BB962C8B-B14F-4D97-AF65-F5344CB8AC3E}">
        <p14:creationId xmlns:p14="http://schemas.microsoft.com/office/powerpoint/2010/main" val="14001159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0C8FA621-9591-45B6-8139-967B6887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7C864D84-0D9E-4EBB-9876-1B4C8CA6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CB34D46-F774-4CB4-A19D-AB32FF45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Как создаётся маска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84F2D8C-379B-493E-B864-A428801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Пример с вымышленными данными. Одно и то же значение получает одну маску внутри запроса.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786B0ED-AA7D-4863-AAC9-FF8162F3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43200"/>
            <a:ext cx="3333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Исходный текст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4DB61B3-BB29-4054-942E-A90638FC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24200"/>
            <a:ext cx="106108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Напишите на ivan@example.com. Позвоните +7 916 123-45-67.</a:t>
            </a:r>
          </a:p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Повторите письмо на ivan@example.com.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534C8F8F-2946-4A2A-98EA-C0A9C21A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43425"/>
            <a:ext cx="3333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После обработки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D9613232-DCB0-4E38-88D3-0A34079C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24425"/>
            <a:ext cx="106108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Напишите на &lt;EMAIL_1&gt;. Позвоните &lt;PHONE_2&gt;.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Повторите письмо на &lt;EMAIL_1&gt;.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8C66D7ED-FDCF-4D0E-8789-14229CC8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Соответствие шифруется и хранится временно; замены в тексте применяются справа налево.</a:t>
            </a:r>
          </a:p>
        </p:txBody>
      </p:sp>
    </p:spTree>
    <p:extLst>
      <p:ext uri="{BB962C8B-B14F-4D97-AF65-F5344CB8AC3E}">
        <p14:creationId xmlns:p14="http://schemas.microsoft.com/office/powerpoint/2010/main" val="14717154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2B73A5BC-52C5-47A0-9D92-54E51BE6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741D4AFB-73B8-45E3-83B3-EF0777D6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1356330-AE9F-4CA3-A134-EE0DF07A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Два способа восстановить данные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E2D69BF-7020-4BB3-B349-0BF84CCE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Оба работают через POST /process с тем же идентификатором запроса.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7909B94-379D-43BC-82CB-C005B8AD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57500"/>
            <a:ext cx="504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А. Ранее выданная маска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3207C76-DA9C-4DBF-BBA8-98E445AB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24225"/>
            <a:ext cx="5086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Передали замаскированную строку без изменений. Сервис вернёт исходный запрос посимвольно.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C5F42F5D-283B-4B16-A13A-E1537B3F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57500"/>
            <a:ext cx="504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Б. Новый ответ модели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597D1F3-FED8-4AF5-A511-CE7D0F59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24225"/>
            <a:ext cx="4933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«Письмо отправьте на &lt;EMAIL_1&gt;» превращается в «Письмо отправьте на ivan@example.com».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273C1708-B8CA-42D8-B14F-3DF39B8E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24475"/>
            <a:ext cx="10496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Неизвестные или изменённые моделью обозначения остаются в тексте. Соответствия из другого запроса или другой системы не используются.</a:t>
            </a:r>
          </a:p>
        </p:txBody>
      </p:sp>
    </p:spTree>
    <p:extLst>
      <p:ext uri="{BB962C8B-B14F-4D97-AF65-F5344CB8AC3E}">
        <p14:creationId xmlns:p14="http://schemas.microsoft.com/office/powerpoint/2010/main" val="12499967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FE60283D-04D2-4D6C-9F2D-ED384465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CE93DBE-D19E-4650-AFCE-23B76FAB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7C3A57C-4091-4FAC-A219-034FFBA9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Подключение и настройки систем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008090C-D959-462B-AFAB-42317CC7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Запрос содержит ровно два поля. Ответ содержит только обработанный текст.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93AF27D-D870-403C-83AE-3BE151E5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1462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HTTP-интерфейс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C994F03-72EF-40F5-B91F-45A4B5A9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43250"/>
            <a:ext cx="5429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POST /process</a:t>
            </a:r>
          </a:p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{ "payload": "...", "payload_id": "..." }</a:t>
            </a:r>
          </a:p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{ "result": "..." }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07763CA-0CEE-4830-B4F8-995784AE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14625"/>
            <a:ext cx="491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Настройки для приложения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A304572-7532-4DA3-8509-6A9C0EA3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143250"/>
            <a:ext cx="48958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Включено ли подключение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Какие категории данных защищать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Разрешено ли восстановление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Как выглядит обозначение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F3FA0B81-9A4E-41AD-BCDF-31E97E53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Сейчас активную систему выбирают при развёртывании. Публичный вызов не удостоверяет отправителя.</a:t>
            </a:r>
          </a:p>
        </p:txBody>
      </p:sp>
    </p:spTree>
    <p:extLst>
      <p:ext uri="{BB962C8B-B14F-4D97-AF65-F5344CB8AC3E}">
        <p14:creationId xmlns:p14="http://schemas.microsoft.com/office/powerpoint/2010/main" val="15119159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77512A86-7045-46CB-A33E-73C33606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87D9B57-E872-4762-8B2B-6EF40FEA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9A513B3-2A15-41BA-95A5-CCADE679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Что защищает временную запись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E92A8FD-11C6-42E6-8638-FEA250FF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Без соответствий между масками и значениями восстановление было бы невозможно.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1A9374B-B206-40D9-859E-8D03BA3A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9082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15 минут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FCD7115-B455-4B7D-A1C4-16629235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Срок хранения после маскирования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1ED4464-9731-4C68-B70A-CB4E6507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790825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2 минуты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C9EB8920-9FDB-4D78-B815-872DC533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486150"/>
            <a:ext cx="47910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Срок после успешного восстановления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CA4436D2-A969-4990-88F8-65CDAA4D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96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Запись зашифрована AES-GCM. Ключ задаётся отдельно от кода. Redis не опубликован в интернете. В журнал не попадают исходный текст и значения найденных данных.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029FE9B3-DB27-4D0D-8D2B-2D4D2840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Сроки задаются конфигурацией. Полное соответствие внутренним правилам ИБ банка отдельно не подтверждалось.</a:t>
            </a:r>
          </a:p>
        </p:txBody>
      </p:sp>
    </p:spTree>
    <p:extLst>
      <p:ext uri="{BB962C8B-B14F-4D97-AF65-F5344CB8AC3E}">
        <p14:creationId xmlns:p14="http://schemas.microsoft.com/office/powerpoint/2010/main" val="18778549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CBA3DE79-D93E-4F6F-9102-05DCD8B6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71EB027-A6FD-438C-BCD8-C7EEA03E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5B95A77-B74E-4B5B-A7E5-0396C830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Журналы и рабочие показатели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8E9ABA0-E251-44CC-9FBE-6353AF5A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По запросу сохраняются безопасные признаки обработки; /metrics отдаёт агрегированные счётчики и задержки.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E746B58-BEC9-41CA-B482-0CE2388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03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Одна запись в журнале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A419013-DC4F-4DCE-8B15-795C53C2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48387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Операция: маскирование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Код ответа: 200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Найденные типы: email, phone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Число находок: 3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Поиск: 6,1 мс · Redis: 1,2 мс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DE87C651-2355-4547-A839-51FFCBAB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00350"/>
            <a:ext cx="504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Что можно измерить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D2AB114C-8EF1-43C8-B329-F4EB9E4E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Запросы в секунду и время ответа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Отказы, перегрузка и занятые процессы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Число находок по категориям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Скорость обработки текста и время Redis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DDE90E73-B2B8-4622-8385-6AE7591F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Текстовые единицы считаются по пробелам: это не токены конкретной языковой модели.</a:t>
            </a:r>
          </a:p>
        </p:txBody>
      </p:sp>
    </p:spTree>
    <p:extLst>
      <p:ext uri="{BB962C8B-B14F-4D97-AF65-F5344CB8AC3E}">
        <p14:creationId xmlns:p14="http://schemas.microsoft.com/office/powerpoint/2010/main" val="11476564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71EA4F3F-D11A-4D34-B308-C022729E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3DD203F-0AA0-4F23-9FE7-84B5DE4C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15B2C40-32C8-45B3-AD23-326BCDEA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Что показывают проверки качества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647CB33-3F89-4E8C-A4BB-A7D6417B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Внутренние тесты и официальная проверка используют разные данные и не заменяют друг друга.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65A0E3F6-81D8-448B-B75A-709305BE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5715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33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4 400 / 4 400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C8F0B770-AA92-41FE-8ACF-FA92E172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5334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заявленное покрытие размеченных полей</a:t>
            </a:r>
          </a:p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 200 синтетических анкетах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601CA52-62CD-494C-ACBF-76A9ACB8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762250"/>
            <a:ext cx="4495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F1 = 1,0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50E9E8FB-B4E6-442F-86B3-F8854A1C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609975"/>
            <a:ext cx="4381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старый локальный набор из 46 примеров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FA394B4D-BC12-47B7-A167-1452E129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38675"/>
            <a:ext cx="105727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Проверяем типы и границы, лишние срабатывания, маску и восстановление. Поиск данных в свободных формулировках исправляется и проходит отдельную регрессию; результат по анкетам не доказывает его качество.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5CE68D00-AE92-448D-9044-4071F55B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Порог 95% на неизвестных данных организаторов пока не подтверждён.</a:t>
            </a:r>
          </a:p>
        </p:txBody>
      </p:sp>
    </p:spTree>
    <p:extLst>
      <p:ext uri="{BB962C8B-B14F-4D97-AF65-F5344CB8AC3E}">
        <p14:creationId xmlns:p14="http://schemas.microsoft.com/office/powerpoint/2010/main" val="4353176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0">
            <a:extLst xmlns:a="http://schemas.openxmlformats.org/drawingml/2006/main">
              <a:ext uri="{FF2B5EF4-FFF2-40B4-BE49-F238E27FC236}">
                <a16:creationId xmlns:a16="http://schemas.microsoft.com/office/drawing/2014/main" id="{A257FC69-89DC-459B-8892-36A09A20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15D85F4-E81E-4F62-BDB0-5EF232A8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EF17D67-C6BE-4D64-96B2-019D2A88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Поведение при ошибках и большой нагрузке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6C205D1-26FD-4E9E-AAE7-2C87528D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Сервис не отдаёт исходные данные как запасной путь при сбое временной памяти.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248EEDA-4A55-42FE-B7A8-67E87E42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61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0C75D0D-02D7-44BE-A1BD-6857D7BA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81300"/>
            <a:ext cx="4629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Некорректный запрос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4D70802-C3FE-46AD-A293-AB9CCF91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67075"/>
            <a:ext cx="4610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HTTP 422 без вывода исходного текста в журнал.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75993BA-51CA-466E-9108-7DD704E8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81300"/>
            <a:ext cx="61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F133881C-7731-4D9A-AED2-EC028902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813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Перегрузка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F839AA73-CA4B-4234-A87F-5F0BCA0D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67075"/>
            <a:ext cx="4457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HTTP 429 с указанием времени до повтора.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6D42BC06-8E2C-4280-9AFF-364AFC1F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57700"/>
            <a:ext cx="61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65F42AA1-CBE3-4194-819C-50C07117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57700"/>
            <a:ext cx="4629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Проблема Redis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203AFFB2-BBA4-4B57-AF71-0B2DB091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43475"/>
            <a:ext cx="4610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Контролируемая ошибка 503; обработка закрывается.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96E4290E-0FC3-46CA-AFF2-52FC0491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57700"/>
            <a:ext cx="61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4A453E6F-1487-4833-B3F0-FE83E249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577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Повтор запроса</a:t>
            </a:r>
          </a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53213E15-0577-4FEA-A2E7-BF8972C3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943475"/>
            <a:ext cx="4457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Прежняя маска возвращается по тому же идентификатору.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101F9A11-3EE4-4E78-8081-D984216C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Ограничение 8 млн символов; 100 тыс. условных токенов тестировались локально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2988024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BBEDF24A-CBC6-4D99-AB08-17827CD1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97FA1-5333-4B78-9B8E-C42B6034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51B3C56-4312-4C0C-98CF-A5BC19C6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Скорость зависит от среды запуска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15B6A9D-4EF9-4DA3-8B01-150785FA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Пятиминутный профиль 1000 операций в секунду: полный локальный прогон прошёл, публичный нет.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28650" y="2705100"/>
          <a:ext xmlns:a="http://schemas.openxmlformats.org/drawingml/2006/main" cx="1091565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29075"/>
                <a:gridCol w="3362325"/>
                <a:gridCol w="3524250"/>
              </a:tblGrid>
              <a:tr h="552450">
                <a:tc>
                  <a:txBody>
                    <a:bodyPr wrap="square" lIns="114300" tIns="47625" rIns="76200" bIns="47625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Показатель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Локальный компьютер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Railway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</a:tr>
              <a:tr h="552450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Успешно за 300 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300 001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193 444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Успешно в секунду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≈1000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≈645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</a:tr>
              <a:tr h="552450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Время ответа p95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21,78 мс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≈10 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Ошибки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≈33%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90A4E95F-E02F-4A24-949B-2E5F972C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Короткий прогон Railway: 100 операций/с, 30 с, без ошибок. Локально: 8 процессов; в Railway ресурс ограничен.</a:t>
            </a:r>
          </a:p>
        </p:txBody>
      </p:sp>
    </p:spTree>
    <p:extLst>
      <p:ext uri="{BB962C8B-B14F-4D97-AF65-F5344CB8AC3E}">
        <p14:creationId xmlns:p14="http://schemas.microsoft.com/office/powerpoint/2010/main" val="781646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0">
            <a:extLst xmlns:a="http://schemas.openxmlformats.org/drawingml/2006/main">
              <a:ext uri="{FF2B5EF4-FFF2-40B4-BE49-F238E27FC236}">
                <a16:creationId xmlns:a16="http://schemas.microsoft.com/office/drawing/2014/main" id="{EEFA298A-A17A-4578-A41D-76B2F732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72B00DC4-87B7-4EE2-927D-1D98387C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7738486-00FE-4021-BBCC-C1236727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Дополнительные возможности: фактическое состояние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58E6A5F-DA2A-4E1D-B392-FA3C9667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Бонусные пункты показываем отдельно от обязательных требований.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5C900BC-CA45-4A38-A930-8678F03D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Два формата обозначений для систем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BDB16D4-41A8-4961-94B4-B9275133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800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Реализовано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7BB8F00-E6BB-4321-AD83-D8CE2F32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Новые типы через дополнительные правила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1EC272F0-7C53-4D79-854F-0C8C5376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48050"/>
            <a:ext cx="2800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Предусмотрено в устройстве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7A55F66B-B882-42AE-97C8-233E87D1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Отдельная токенизация / синтетические значения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7EF8C0DA-0864-4879-9215-856B885C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95750"/>
            <a:ext cx="2800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Не реализованы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F334F44D-F315-4DB2-8897-859C3652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43450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2000 операций/с до 1 секунды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8C0BA404-BBFC-4D3A-8A6D-C6B93F62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743450"/>
            <a:ext cx="2800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Не подтверждено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990DF7D0-869C-46E4-A7DB-4EBD2753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91150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Новые виды удостоверений и составные правила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C1C2332D-E1E5-4137-9B3E-F59FE04A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391150"/>
            <a:ext cx="2800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Не подтверждены</a:t>
            </a:r>
          </a:p>
        </p:txBody>
      </p:sp>
    </p:spTree>
    <p:extLst>
      <p:ext uri="{BB962C8B-B14F-4D97-AF65-F5344CB8AC3E}">
        <p14:creationId xmlns:p14="http://schemas.microsoft.com/office/powerpoint/2010/main" val="185180362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1C4EB0CE-9C78-4F87-9221-74252E32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A5A1053-828B-431D-864D-918546D8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E02BF19-17E9-47A3-ACC7-433A7AA9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Сводка по требованиям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87EA37E-0466-484C-A9FE-91E92CA0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Состояние отражает проверки команды на момент подготовки материалов.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28650" y="2619375"/>
          <a:ext xmlns:a="http://schemas.openxmlformats.org/drawingml/2006/main" cx="10925175" cy="3533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3829050"/>
                <a:gridCol w="4524375"/>
              </a:tblGrid>
              <a:tr h="504825">
                <a:tc>
                  <a:txBody>
                    <a:bodyPr wrap="square" lIns="114300" tIns="47625" rIns="76200" bIns="47625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Требование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сделано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подтверждено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</a:tr>
              <a:tr h="504825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Интерфейс и восстановление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POST /process, два сценария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Локальные и сквозные проверки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22 категории данных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Правила предусмотрены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Качество на неизвестных данных открыто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</a:tr>
              <a:tr h="504825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Разные системы и доступ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Политики из конфигурации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Публичная авторизация отсутствует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Журналы и защита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Метрики, шифрование, срок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Локальные тесты и проверка среды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</a:tr>
              <a:tr h="504825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95% качества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Внутренний набор пройден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Официальный прогон открыт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1000 операций/с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Достигнуто локально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14300" tIns="47625" rIns="76200" bIns="47625"/>
                    <a:lstStyle/>
                    <a:p>
                      <a:r>
                        <a:rPr sz="12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Railway не прошёл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320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01C6BCDB-8BAF-46A2-95A3-E0C33BA4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9156398-81C1-40FE-BAA7-565F8B79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44D5F61-4326-4AAB-8EC2-CBF503AB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Демонстрация и материалы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07D3039-67DC-4C32-8B2F-143776F4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Запрос с вымышленными данными доступен через публичный адрес.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C4113BD-E0BC-4BDF-AF63-6A3315B9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Публичный адрес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B78B1ED-2E73-4AC2-873E-72471880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52775"/>
            <a:ext cx="10572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56233c9c35ef4671"/>
              </a:rPr>
              <a:t>https://llm-proxy-production-84c7.up.railway.app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04881A5-C596-4C0B-952D-3F27A53C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52900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Исходный код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5DAF573F-ABB8-47C1-8E90-947D2BC9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43425"/>
            <a:ext cx="1000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00b69c219bce4cd8"/>
              </a:rPr>
              <a:t>https://github.com/rp-alpha-vibe/llm-proxy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C1D88F63-9DC4-45DA-AAE1-61D19312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006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Открытые проверки: официальный результат качества и допуск тестера. Нагрузочный профиль на публичном сервере пока не пройден.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7C098B45-BBA8-485A-A449-C9D01AED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Публичная демонстрация предназначена только для вымышленных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93658777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4BBAC031-1554-4F5B-81C4-CF54C8B9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998C917-F30F-4759-8A77-A479AC9A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886D298-8C1D-4558-AC18-43383267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Приложение: все 22 категории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6BDAD57-C640-4143-9B55-ADDE0E4B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Каждая строка адреса из задания учитывается отдельно.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9B04C14-2198-4A8A-B20D-9773D092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9875"/>
            <a:ext cx="3619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 ФИО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2 Дата рождения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3 Место рождения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4 Гражданство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5 Паспорт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6 Орган выдачи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7 Код подразделения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8 Дата выдачи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8EBCBD0-1C0E-47CD-BA9A-5A5FADD1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09875"/>
            <a:ext cx="3619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9 Водительское удостоверение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10 ИНН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11 Страна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12 Индекс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13 Город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14 Улица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15 Дом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16 Квартира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B422B07-E87B-4142-8187-E0367812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09875"/>
            <a:ext cx="3619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17 Телефон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18 Электронная почта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19 Номер карты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20 CVV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21 ПИН-код</a:t>
            </a:r>
          </a:p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22 Имя держателя карты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18EA2FCB-5223-4D3C-9A74-C08B2224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Правила предусмотрены для всех позиций; общая доля корректного обнаружения требует отдельной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65183425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9518A9FB-CBAA-4493-A9CD-C6A42447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595249F-98BE-4CD3-9EE8-3EA555B1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20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00F6F74-EFFA-446E-B7E6-B80945D7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Приложение: настройка нового приложения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587F8BF-E56E-428E-BF1F-859C6843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Добавление типового потребителя не требует менять алгоритм поиска.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BBE729D-801C-48B3-A73E-22A2951B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10572750" cy="2638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1. Добавить систему в config/systems.example.yaml.</a:t>
            </a:r>
          </a:p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2. Указать enabled и список защищаемых категорий.</a:t>
            </a:r>
          </a:p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3. Разрешить либо запретить восстановление.</a:t>
            </a:r>
          </a:p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4. Выбрать формат обозначений.</a:t>
            </a:r>
          </a:p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5. Установить идентификатор активной системы при запуске.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8CDF2D1-D2F0-430E-BEDD-C2F2D065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Отдельную проверку личности вызывающего приложения текущий публичный интерфейс не выполняет.</a:t>
            </a:r>
          </a:p>
        </p:txBody>
      </p:sp>
    </p:spTree>
    <p:extLst>
      <p:ext uri="{BB962C8B-B14F-4D97-AF65-F5344CB8AC3E}">
        <p14:creationId xmlns:p14="http://schemas.microsoft.com/office/powerpoint/2010/main" val="192392826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D4B20585-2AA7-4108-931A-26A57EC9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05A389B-F180-4835-B909-7D8A4BB4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3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21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82796FC-3FDE-4731-9221-82293318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0896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Приложение: как измеряли нагрузку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96E56B3-4B14-49F1-AA48-BC8B2F8A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24050"/>
            <a:ext cx="108108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Сравнивать среды можно только вместе с условиями испытаний.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8AA0426-A3AF-45AE-96B3-1D9BA61F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103822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Профиль: 300 секунд после прогрева, целевая подача 1000 операций/с. Одна операция означает отдельное маскирование или восстановление. Успешный повтор не скрывает ошибку предыдущей попытки.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C9C691D-ECD9-4A86-BA67-045C7678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387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Локальный компьютер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71F887E-0BF6-47C0-BB25-65A4E57D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490537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8 рабочих процессов; 300 001 успешная операция; ошибок и 429 нет.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88BCC662-90C4-4347-B1CC-2721FD50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3387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D52D29"/>
                </a:solidFill>
                <a:latin typeface="DejaVu Sans"/>
                <a:ea typeface="DejaVu Sans"/>
                <a:cs typeface="DejaVu Sans"/>
              </a:rPr>
              <a:t>Публичный Railway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2149DA99-F2CC-4F62-8A0F-9C5F0294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95825"/>
            <a:ext cx="51054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193 444 успешных операций; 76 483 ответа 429; 10 019 пропущенных итераций.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426823E9-B864-4355-9688-1D42EE1C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4F5C63"/>
                </a:solidFill>
                <a:latin typeface="DejaVu Sans"/>
                <a:ea typeface="DejaVu Sans"/>
                <a:cs typeface="DejaVu Sans"/>
              </a:rPr>
              <a:t>Подробные условия и первичные метрики k6 находятся в submission/railway-load-probe-2026-09-23.md.</a:t>
            </a:r>
          </a:p>
        </p:txBody>
      </p:sp>
    </p:spTree>
    <p:extLst>
      <p:ext uri="{BB962C8B-B14F-4D97-AF65-F5344CB8AC3E}">
        <p14:creationId xmlns:p14="http://schemas.microsoft.com/office/powerpoint/2010/main" val="6582463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2026-09-23T15:42:42.3870000Z</dcterms:created>
  <dcterms:modified xsi:type="dcterms:W3CDTF">2026-09-23T15:42:42.3870000Z</dcterms:modified>
</coreProperties>
</file>