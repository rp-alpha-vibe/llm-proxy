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def28d2a2b47ce" /><Relationship Type="http://schemas.openxmlformats.org/officeDocument/2006/relationships/extended-properties" Target="/docProps/app.xml" Id="R6203de54bb704a82" /><Relationship Type="http://schemas.openxmlformats.org/officeDocument/2006/relationships/officeDocument" Target="/ppt/presentation.xml" Id="Re3d145417a064b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a2cb17d0b8437f"/>
  </p:sldMasterIdLst>
  <p:notesMasterIdLst>
    <p:notesMasterId xmlns:r="http://schemas.openxmlformats.org/officeDocument/2006/relationships" r:id="R83e96dbec6064683"/>
  </p:notesMasterIdLst>
  <p:sldIdLst>
    <p:sldId xmlns:r="http://schemas.openxmlformats.org/officeDocument/2006/relationships" id="256" r:id="Rad17ce5d633940f7"/>
    <p:sldId xmlns:r="http://schemas.openxmlformats.org/officeDocument/2006/relationships" id="257" r:id="Ra9fcc9093ac04c66"/>
    <p:sldId xmlns:r="http://schemas.openxmlformats.org/officeDocument/2006/relationships" id="258" r:id="Rb73c9e0735be4097"/>
    <p:sldId xmlns:r="http://schemas.openxmlformats.org/officeDocument/2006/relationships" id="259" r:id="R14bce8fc0d7b432f"/>
    <p:sldId xmlns:r="http://schemas.openxmlformats.org/officeDocument/2006/relationships" id="260" r:id="R8b7405dd5c0d42f5"/>
    <p:sldId xmlns:r="http://schemas.openxmlformats.org/officeDocument/2006/relationships" id="261" r:id="R96d435a0de5940e9"/>
    <p:sldId xmlns:r="http://schemas.openxmlformats.org/officeDocument/2006/relationships" id="262" r:id="R4cdc111c832d4163"/>
    <p:sldId xmlns:r="http://schemas.openxmlformats.org/officeDocument/2006/relationships" id="263" r:id="Rb9ec79b9906f4437"/>
    <p:sldId xmlns:r="http://schemas.openxmlformats.org/officeDocument/2006/relationships" id="264" r:id="Rb451a1fee97d48af"/>
    <p:sldId xmlns:r="http://schemas.openxmlformats.org/officeDocument/2006/relationships" id="265" r:id="Rb7292d96097d4e22"/>
    <p:sldId xmlns:r="http://schemas.openxmlformats.org/officeDocument/2006/relationships" id="266" r:id="Re8f28a884d774d04"/>
    <p:sldId xmlns:r="http://schemas.openxmlformats.org/officeDocument/2006/relationships" id="267" r:id="R0a1718b0942743fa"/>
    <p:sldId xmlns:r="http://schemas.openxmlformats.org/officeDocument/2006/relationships" id="268" r:id="R0f3b2ce626994264"/>
    <p:sldId xmlns:r="http://schemas.openxmlformats.org/officeDocument/2006/relationships" id="269" r:id="Rf7044973cbf4451e"/>
    <p:sldId xmlns:r="http://schemas.openxmlformats.org/officeDocument/2006/relationships" id="270" r:id="Rf7e170bdb33d4a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f9f46146c243fc" /><Relationship Type="http://schemas.openxmlformats.org/officeDocument/2006/relationships/slideMaster" Target="/ppt/slideMasters/slideMaster1.xml" Id="R7ca2cb17d0b8437f" /><Relationship Type="http://schemas.openxmlformats.org/officeDocument/2006/relationships/notesMaster" Target="/ppt/notesMasters/notesMaster1.xml" Id="R83e96dbec6064683" /><Relationship Type="http://schemas.openxmlformats.org/officeDocument/2006/relationships/presProps" Target="/ppt/presProps.xml" Id="R00adfa5205ee4744" /><Relationship Type="http://schemas.openxmlformats.org/officeDocument/2006/relationships/tableStyles" Target="/ppt/tableStyles.xml" Id="R8236ba0f79a040ff" /><Relationship Type="http://schemas.openxmlformats.org/officeDocument/2006/relationships/slide" Target="/ppt/slides/slide1.xml" Id="Rad17ce5d633940f7" /><Relationship Type="http://schemas.openxmlformats.org/officeDocument/2006/relationships/slide" Target="/ppt/slides/slide2.xml" Id="Ra9fcc9093ac04c66" /><Relationship Type="http://schemas.openxmlformats.org/officeDocument/2006/relationships/slide" Target="/ppt/slides/slide3.xml" Id="Rb73c9e0735be4097" /><Relationship Type="http://schemas.openxmlformats.org/officeDocument/2006/relationships/slide" Target="/ppt/slides/slide4.xml" Id="R14bce8fc0d7b432f" /><Relationship Type="http://schemas.openxmlformats.org/officeDocument/2006/relationships/slide" Target="/ppt/slides/slide5.xml" Id="R8b7405dd5c0d42f5" /><Relationship Type="http://schemas.openxmlformats.org/officeDocument/2006/relationships/slide" Target="/ppt/slides/slide6.xml" Id="R96d435a0de5940e9" /><Relationship Type="http://schemas.openxmlformats.org/officeDocument/2006/relationships/slide" Target="/ppt/slides/slide7.xml" Id="R4cdc111c832d4163" /><Relationship Type="http://schemas.openxmlformats.org/officeDocument/2006/relationships/slide" Target="/ppt/slides/slide8.xml" Id="Rb9ec79b9906f4437" /><Relationship Type="http://schemas.openxmlformats.org/officeDocument/2006/relationships/slide" Target="/ppt/slides/slide9.xml" Id="Rb451a1fee97d48af" /><Relationship Type="http://schemas.openxmlformats.org/officeDocument/2006/relationships/slide" Target="/ppt/slides/slide10.xml" Id="Rb7292d96097d4e22" /><Relationship Type="http://schemas.openxmlformats.org/officeDocument/2006/relationships/slide" Target="/ppt/slides/slide11.xml" Id="Re8f28a884d774d04" /><Relationship Type="http://schemas.openxmlformats.org/officeDocument/2006/relationships/slide" Target="/ppt/slides/slide12.xml" Id="R0a1718b0942743fa" /><Relationship Type="http://schemas.openxmlformats.org/officeDocument/2006/relationships/slide" Target="/ppt/slides/slide13.xml" Id="R0f3b2ce626994264" /><Relationship Type="http://schemas.openxmlformats.org/officeDocument/2006/relationships/slide" Target="/ppt/slides/slide14.xml" Id="Rf7044973cbf4451e" /><Relationship Type="http://schemas.openxmlformats.org/officeDocument/2006/relationships/slide" Target="/ppt/slides/slide15.xml" Id="Rf7e170bdb33d4a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99d72dafb84b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ce1522752145f5" /><Relationship Type="http://schemas.openxmlformats.org/officeDocument/2006/relationships/notesMaster" Target="/ppt/notesMasters/notesMaster1.xml" Id="Reb179931803743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de80476a8f406f" /><Relationship Type="http://schemas.openxmlformats.org/officeDocument/2006/relationships/notesMaster" Target="/ppt/notesMasters/notesMaster1.xml" Id="R31f00412ed504b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a1613799a741b8" /><Relationship Type="http://schemas.openxmlformats.org/officeDocument/2006/relationships/notesMaster" Target="/ppt/notesMasters/notesMaster1.xml" Id="R57386be41ba44c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c1a3b53ba74eac" /><Relationship Type="http://schemas.openxmlformats.org/officeDocument/2006/relationships/notesMaster" Target="/ppt/notesMasters/notesMaster1.xml" Id="Ra7aa09c856d44a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433afd772643af" /><Relationship Type="http://schemas.openxmlformats.org/officeDocument/2006/relationships/notesMaster" Target="/ppt/notesMasters/notesMaster1.xml" Id="R72d81c5191c344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6677ec2c0a48d0" /><Relationship Type="http://schemas.openxmlformats.org/officeDocument/2006/relationships/notesMaster" Target="/ppt/notesMasters/notesMaster1.xml" Id="R1b18e3847dcd44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4d87b8f37a4400" /><Relationship Type="http://schemas.openxmlformats.org/officeDocument/2006/relationships/notesMaster" Target="/ppt/notesMasters/notesMaster1.xml" Id="R7f24439e167848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19ca08009144d7" /><Relationship Type="http://schemas.openxmlformats.org/officeDocument/2006/relationships/notesMaster" Target="/ppt/notesMasters/notesMaster1.xml" Id="Rc4eaf0fbd20e41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6a1a66624d49e0" /><Relationship Type="http://schemas.openxmlformats.org/officeDocument/2006/relationships/notesMaster" Target="/ppt/notesMasters/notesMaster1.xml" Id="R220698ae261742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0822362e6c4348" /><Relationship Type="http://schemas.openxmlformats.org/officeDocument/2006/relationships/notesMaster" Target="/ppt/notesMasters/notesMaster1.xml" Id="R5d97a7eeaf1548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dae96323354bfe" /><Relationship Type="http://schemas.openxmlformats.org/officeDocument/2006/relationships/notesMaster" Target="/ppt/notesMasters/notesMaster1.xml" Id="R2619924b1fd64a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5809d62bc04942" /><Relationship Type="http://schemas.openxmlformats.org/officeDocument/2006/relationships/notesMaster" Target="/ppt/notesMasters/notesMaster1.xml" Id="R9ecd8e9160044b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ed83a8bd66242dc" /><Relationship Type="http://schemas.openxmlformats.org/officeDocument/2006/relationships/notesMaster" Target="/ppt/notesMasters/notesMaster1.xml" Id="R601ad4f8584a4b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b4e26e03324cd1" /><Relationship Type="http://schemas.openxmlformats.org/officeDocument/2006/relationships/notesMaster" Target="/ppt/notesMasters/notesMaster1.xml" Id="R533f6bb9745945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331b702e87e4b98" /><Relationship Type="http://schemas.openxmlformats.org/officeDocument/2006/relationships/notesMaster" Target="/ppt/notesMasters/notesMaster1.xml" Id="Rdb6efc8c6b804f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https://github.com/rp-alpha-vibe/llm-proxy/blob/main/docs/MASKING.md</a:t>
            </a:r>
          </a:p>
          <a:p xmlns:a="http://schemas.openxmlformats.org/drawingml/2006/main">
            <a:r>
              <a:t>https://github.com/rp-alpha-vibe/llm-proxy/blob/main/src/llm_proxy/application/process_service.py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https://github.com/rp-alpha-vibe/llm-proxy/blob/main/src/llm_proxy/main.py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https://github.com/rp-alpha-vibe/llm-proxy/blob/main/docs/DECISIONS.md</a:t>
            </a:r>
          </a:p>
          <a:p xmlns:a="http://schemas.openxmlformats.org/drawingml/2006/main">
            <a:r>
              <a:t>https://github.com/rp-alpha-vibe/llm-proxy/blob/main/docs/ARCHITECTURE.md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https://github.com/rp-alpha-vibe/llm-proxy/blob/main/src/llm_proxy/detection/models.py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https://github.com/rp-alpha-vibe/llm-proxy/blob/main/src/llm_proxy/detection/engine.py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https://github.com/rp-alpha-vibe/llm-proxy/blob/main/docs/MASKING.md</a:t>
            </a:r>
          </a:p>
          <a:p xmlns:a="http://schemas.openxmlformats.org/drawingml/2006/main">
            <a:r>
              <a:t>https://github.com/rp-alpha-vibe/llm-proxy/blob/main/tests/test_product_demask.py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https://github.com/rp-alpha-vibe/llm-proxy/blob/main/docs/REQUIREMENTS.md</a:t>
            </a:r>
          </a:p>
          <a:p xmlns:a="http://schemas.openxmlformats.org/drawingml/2006/main">
            <a:r>
              <a:t>https://github.com/rp-alpha-vibe/llm-proxy/blob/main/config/systems.example.yaml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https://github.com/rp-alpha-vibe/llm-proxy/blob/main/src/llm_proxy/application/process_service.py</a:t>
            </a:r>
          </a:p>
          <a:p xmlns:a="http://schemas.openxmlformats.org/drawingml/2006/main">
            <a:r>
              <a:t>https://github.com/rp-alpha-vibe/llm-proxy/blob/main/src/llm_proxy/state/redis_store.py</a:t>
            </a:r>
          </a:p>
          <a:p xmlns:a="http://schemas.openxmlformats.org/drawingml/2006/main">
            <a:r>
              <a:t>Детали: ключ привязан к системе и payload_id. SET NX предотвращает перезапись при конкурентном создании. При существующей сессии сначала проверяется payload == original_text, затем masked_text, затем выполняется восстановление известных масок. После demask EXPIRE устанавливает TTL 120 с заново. При allow_demask=false возвращается 403. После утраты сессии новый запрос обрабатывается как создание сессии, исходные значения восстановить невозможно. Redis недоступен: 503. Сроки 900/120 с — значения по умолчанию.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https://github.com/rp-alpha-vibe/llm-proxy/blob/main/src/llm_proxy/observability/metrics.py</a:t>
            </a:r>
          </a:p>
          <a:p xmlns:a="http://schemas.openxmlformats.org/drawingml/2006/main">
            <a:r>
              <a:t>https://github.com/rp-alpha-vibe/llm-proxy/blob/main/src/llm_proxy/observability/logging.py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ТЗ ds.pdf: §4.1–4.3. До: docs/TASK_IMPROVE_PII_DETECTION.md, baseline f42d0be, 1902/4400. После: свежий запуск 23.09.2026 scripts/eval_labeled_sample.py --sample synthetic_pdn_requests_200_utf8.txt, lines=200, fields_covered=4400/4400, false_positives=0, exact_round_trip=200/200. Исходная выборка вне репозитория. Измеряется полное покрытие поля правильным типом, а не точное совпадение границ: detection.start &lt;= field.start, detection.end &gt;= field.end. Это не официальный scoring и не независимый тест: правила улучшали на этой выборке.</a:t>
            </a:r>
          </a:p>
          <a:p xmlns:a="http://schemas.openxmlformats.org/drawingml/2006/main">
            <a:r>
              <a:t>https://github.com/rp-alpha-vibe/llm-proxy/blob/main/scripts/eval_labeled_sample.py</a:t>
            </a:r>
          </a:p>
          <a:p xmlns:a="http://schemas.openxmlformats.org/drawingml/2006/main">
            <a:r>
              <a:t>https://github.com/rp-alpha-vibe/llm-proxy/blob/main/docs/TASK_IMPROVE_PII_DETECTION.md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https://github.com/rp-alpha-vibe/llm-proxy/blob/main/src/llm_proxy/quality/corpus.yaml</a:t>
            </a:r>
          </a:p>
          <a:p xmlns:a="http://schemas.openxmlformats.org/drawingml/2006/main">
            <a:r>
              <a:t>https://github.com/rp-alpha-vibe/llm-proxy/blob/main/src/llm_proxy/quality/runner.py</a:t>
            </a:r>
          </a:p>
          <a:p xmlns:a="http://schemas.openxmlformats.org/drawingml/2006/main">
            <a:r>
              <a:t>https://github.com/rp-alpha-vibe/llm-proxy/blob/main/tests/test_product_demask.py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https://github.com/rp-alpha-vibe/llm-proxy/blob/main/docs/ARCHITECTURE.md</a:t>
            </a:r>
          </a:p>
          <a:p xmlns:a="http://schemas.openxmlformats.org/drawingml/2006/main">
            <a:r>
              <a:t>https://github.com/rp-alpha-vibe/llm-proxy/blob/main/submission/railway-load-probe-2026-09-23.md</a:t>
            </a:r>
          </a:p>
          <a:p xmlns:a="http://schemas.openxmlformats.org/drawingml/2006/main">
            <a:r>
              <a:t>Метрики из сохранённых прогонов, повторно в рамках изменения слайдов не запускались. Локально 300001/300=1000.003 уникальных успешных операций/с, p95=21.78 мс, 0 ошибок и 429. Railway 193444/300=644.813 успешных операций/с, p95 около 10 с, ошибки около 33%, 76483 ответа 429. Короткий Railway probe: 100/с в течение 30 с, ошибок нет. Одна операция — маскирование либо восстановление; пара содержит две операции. 100000 условных токенов проверялись отдельно, а не при 1000 RPS. Эти показатели не характеризуют все возможные payload и текущую версию без нового прогона.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ТЗ «Модуль безопасности персональных данных», ds.pdf, предоставлен владельцем.</a:t>
            </a:r>
          </a:p>
          <a:p xmlns:a="http://schemas.openxmlformats.org/drawingml/2006/main">
            <a:r>
              <a:t>https://github.com/rp-alpha-vibe/llm-proxy/blob/main/README.md</a:t>
            </a:r>
          </a:p>
          <a:p xmlns:a="http://schemas.openxmlformats.org/drawingml/2006/main">
            <a:r>
              <a:t>https://github.com/rp-alpha-vibe/llm-proxy/blob/main/submission/CHECKLIST.md</a:t>
            </a:r>
          </a:p>
          <a:p xmlns:a="http://schemas.openxmlformats.org/drawingml/2006/main">
            <a:r>
              <a:t>Дата подготовки: 23 сентября 2026. Локальные результаты не являются оценкой AlfaSonar.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b8e3aa08747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48e7e2affe4ed3" /><Relationship Type="http://schemas.openxmlformats.org/officeDocument/2006/relationships/slideLayout" Target="/ppt/slideLayouts/slideLayout1.xml" Id="R3af46acaa0f448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f46acaa0f448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7c4f370db4799" /><Relationship Type="http://schemas.openxmlformats.org/officeDocument/2006/relationships/notesSlide" Target="/ppt/notesSlides/notesSlide1.xml" Id="R0489d0abd43049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1c490651e4794" /><Relationship Type="http://schemas.openxmlformats.org/officeDocument/2006/relationships/notesSlide" Target="/ppt/notesSlides/notesSlide2.xml" Id="Raafdfcfe5b2c41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22e1d4e70490b" /><Relationship Type="http://schemas.openxmlformats.org/officeDocument/2006/relationships/notesSlide" Target="/ppt/notesSlides/notesSlide3.xml" Id="Rca9e6287c8f346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287be4aa74580" /><Relationship Type="http://schemas.openxmlformats.org/officeDocument/2006/relationships/notesSlide" Target="/ppt/notesSlides/notesSlide4.xml" Id="R8ae088eb07ef45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2afc83edd47d9" /><Relationship Type="http://schemas.openxmlformats.org/officeDocument/2006/relationships/notesSlide" Target="/ppt/notesSlides/notesSlide5.xml" Id="Ra028f24e93604b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11873a0114515" /><Relationship Type="http://schemas.openxmlformats.org/officeDocument/2006/relationships/notesSlide" Target="/ppt/notesSlides/notesSlide6.xml" Id="R16885c66276840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11e28fe66442a" /><Relationship Type="http://schemas.openxmlformats.org/officeDocument/2006/relationships/notesSlide" Target="/ppt/notesSlides/notesSlide7.xml" Id="R82ea9631a71944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ad674ef564d24" /><Relationship Type="http://schemas.openxmlformats.org/officeDocument/2006/relationships/notesSlide" Target="/ppt/notesSlides/notesSlide8.xml" Id="Racf72fb3bb3948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1114950824d4f" /><Relationship Type="http://schemas.openxmlformats.org/officeDocument/2006/relationships/notesSlide" Target="/ppt/notesSlides/notesSlide9.xml" Id="R47392d490c0c49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70e60da174f14" /><Relationship Type="http://schemas.openxmlformats.org/officeDocument/2006/relationships/notesSlide" Target="/ppt/notesSlides/notesSlide10.xml" Id="R63590afabe7741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33e0e53b4412c" /><Relationship Type="http://schemas.openxmlformats.org/officeDocument/2006/relationships/notesSlide" Target="/ppt/notesSlides/notesSlide11.xml" Id="Rb55d494cf4fa41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cb563238a4457" /><Relationship Type="http://schemas.openxmlformats.org/officeDocument/2006/relationships/notesSlide" Target="/ppt/notesSlides/notesSlide12.xml" Id="R10ef2c7a507d4f5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5b76a5cfc4950" /><Relationship Type="http://schemas.openxmlformats.org/officeDocument/2006/relationships/notesSlide" Target="/ppt/notesSlides/notesSlide13.xml" Id="Re2901ea777084d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6acf3e5bf4eac" /><Relationship Type="http://schemas.openxmlformats.org/officeDocument/2006/relationships/notesSlide" Target="/ppt/notesSlides/notesSlide14.xml" Id="R917163ffe5264e1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f5dfcd8594824" /><Relationship Type="http://schemas.openxmlformats.org/officeDocument/2006/relationships/hyperlink" Target="https://llm-proxy-production-84c7.up.railway.app/docs" TargetMode="External" Id="R3b290c55639d450d" /><Relationship Type="http://schemas.openxmlformats.org/officeDocument/2006/relationships/hyperlink" Target="https://github.com/rp-alpha-vibe/llm-proxy" TargetMode="External" Id="Rc2f3c85124394e2c" /><Relationship Type="http://schemas.openxmlformats.org/officeDocument/2006/relationships/notesSlide" Target="/ppt/notesSlides/notesSlide15.xml" Id="R841bc47e5bd945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3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">
            <a:extLst xmlns:a="http://schemas.openxmlformats.org/drawingml/2006/main">
              <a:ext uri="{FF2B5EF4-FFF2-40B4-BE49-F238E27FC236}">
                <a16:creationId xmlns:a16="http://schemas.microsoft.com/office/drawing/2014/main" id="{B9340C5D-D018-4303-9F01-5E570B5E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BC3C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BC3C8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7E17579-0B39-4719-A7DC-F3076FFF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BBC3C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BC3C8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E7BB9997-4AFB-4EBA-B14A-CFE04F2F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Сервис для защиты персональных</a:t>
            </a:r>
          </a:p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данных при работе с LLM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A47670E4-DA3C-42FA-B430-D3C94F65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19375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Сервис предназначен для обнаружения и маскирования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персональных данных в запросах к LLM и их восстановления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в ответах модели.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4771D682-9195-49B9-BA52-5BF589BB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38725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llm-proxy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45D9AAF8-6FC1-4AED-A9EC-79904D84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BC3C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BBC3C8"/>
                </a:solidFill>
                <a:latin typeface="DejaVu Sans"/>
                <a:ea typeface="DejaVu Sans"/>
                <a:cs typeface="DejaVu Sans"/>
              </a:rPr>
              <a:t>Команда Красный Kod. Хакатон АльфаВайб. 23 сентября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712087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1A71B0E-1404-4101-974E-544BAB4F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8">
            <a:extLst xmlns:a="http://schemas.openxmlformats.org/drawingml/2006/main">
              <a:ext uri="{FF2B5EF4-FFF2-40B4-BE49-F238E27FC236}">
                <a16:creationId xmlns:a16="http://schemas.microsoft.com/office/drawing/2014/main" id="{C916FB35-1E9B-4CDA-8E20-110D60B9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9">
            <a:extLst xmlns:a="http://schemas.openxmlformats.org/drawingml/2006/main">
              <a:ext uri="{FF2B5EF4-FFF2-40B4-BE49-F238E27FC236}">
                <a16:creationId xmlns:a16="http://schemas.microsoft.com/office/drawing/2014/main" id="{558A6ED1-5F3A-43F4-A989-4AF2C0E8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Исходная задача</a:t>
            </a:r>
          </a:p>
        </p:txBody>
      </p: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7736DC83-0115-4AC1-9AFF-D57F02DE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109347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Команды банка защищают ПД в запросах к LLM разными способами.</a:t>
            </a:r>
          </a:p>
          <a:p xmlns:a="http://schemas.openxmlformats.org/drawingml/2006/main">
            <a:pPr algn="l">
              <a:def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Такие решения трудно переиспользовать и настраивать,</a:t>
            </a:r>
          </a:p>
          <a:p xmlns:a="http://schemas.openxmlformats.org/drawingml/2006/main">
            <a:pPr algn="l">
              <a:def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а восстановление данных реализовано не везде.</a:t>
            </a:r>
          </a:p>
        </p:txBody>
      </p:sp>
      <p:sp>
        <p:nvSpPr>
          <p:cNvPr id="5" name="text-11">
            <a:extLst xmlns:a="http://schemas.openxmlformats.org/drawingml/2006/main">
              <a:ext uri="{FF2B5EF4-FFF2-40B4-BE49-F238E27FC236}">
                <a16:creationId xmlns:a16="http://schemas.microsoft.com/office/drawing/2014/main" id="{C7316B44-D737-4D70-B054-E31CD038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Требуемое решение</a:t>
            </a:r>
          </a:p>
        </p:txBody>
      </p:sp>
      <p:sp>
        <p:nvSpPr>
          <p:cNvPr id="6" name="text-12">
            <a:extLst xmlns:a="http://schemas.openxmlformats.org/drawingml/2006/main">
              <a:ext uri="{FF2B5EF4-FFF2-40B4-BE49-F238E27FC236}">
                <a16:creationId xmlns:a16="http://schemas.microsoft.com/office/drawing/2014/main" id="{70F22DA2-4D9F-44AD-AD21-E7E288C3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06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Общий сервис маскирования ПД с обратимыми заменами,</a:t>
            </a:r>
          </a:p>
          <a:p xmlns:a="http://schemas.openxmlformats.org/drawingml/2006/main">
            <a:pPr algn="l">
              <a:defRPr sz="20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правилами для разных систем и возможностью добавлять новые типы.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48A9F-DAD1-4318-B58F-B793271B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4B9B9"/>
            </a:solidFill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FD5BCAAE-2999-4207-B2C5-DFAFAED9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Ориентиры ТЗ: качество 95%, 1000 запросов/с, ответ до 1 с,</a:t>
            </a:r>
          </a:p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тексты до 100 000 токенов.</a:t>
            </a:r>
          </a:p>
        </p:txBody>
      </p:sp>
    </p:spTree>
    <p:extLst>
      <p:ext uri="{BB962C8B-B14F-4D97-AF65-F5344CB8AC3E}">
        <p14:creationId xmlns:p14="http://schemas.microsoft.com/office/powerpoint/2010/main" val="1803383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4">
            <a:extLst xmlns:a="http://schemas.openxmlformats.org/drawingml/2006/main">
              <a:ext uri="{FF2B5EF4-FFF2-40B4-BE49-F238E27FC236}">
                <a16:creationId xmlns:a16="http://schemas.microsoft.com/office/drawing/2014/main" id="{D9FA32F8-3174-4EEC-8814-AD025802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5">
            <a:extLst xmlns:a="http://schemas.openxmlformats.org/drawingml/2006/main">
              <a:ext uri="{FF2B5EF4-FFF2-40B4-BE49-F238E27FC236}">
                <a16:creationId xmlns:a16="http://schemas.microsoft.com/office/drawing/2014/main" id="{38B9F4B3-B910-4381-9F7E-DD877E6B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16">
            <a:extLst xmlns:a="http://schemas.openxmlformats.org/drawingml/2006/main">
              <a:ext uri="{FF2B5EF4-FFF2-40B4-BE49-F238E27FC236}">
                <a16:creationId xmlns:a16="http://schemas.microsoft.com/office/drawing/2014/main" id="{95BCB225-7655-4189-9896-A27DD6E2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Взаимодействие с LLM</a:t>
            </a:r>
          </a:p>
        </p:txBody>
      </p:sp>
      <p:sp>
        <p:nvSpPr>
          <p:cNvPr id="4" name="diagram-17">
            <a:extLst xmlns:a="http://schemas.openxmlformats.org/drawingml/2006/main">
              <a:ext uri="{FF2B5EF4-FFF2-40B4-BE49-F238E27FC236}">
                <a16:creationId xmlns:a16="http://schemas.microsoft.com/office/drawing/2014/main" id="{63F6F7E7-61E4-4EE3-8BE5-E7F1D53B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400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Система-потребитель</a:t>
            </a:r>
          </a:p>
        </p:txBody>
      </p:sp>
      <p:sp>
        <p:nvSpPr>
          <p:cNvPr id="5" name="diagram-18">
            <a:extLst xmlns:a="http://schemas.openxmlformats.org/drawingml/2006/main">
              <a:ext uri="{FF2B5EF4-FFF2-40B4-BE49-F238E27FC236}">
                <a16:creationId xmlns:a16="http://schemas.microsoft.com/office/drawing/2014/main" id="{44F75F70-F198-4D9B-92E6-E619E302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28850"/>
            <a:ext cx="4857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Сервис маскирования ПД</a:t>
            </a:r>
          </a:p>
        </p:txBody>
      </p:sp>
      <p:sp>
        <p:nvSpPr>
          <p:cNvPr id="6" name="diagram-19">
            <a:extLst xmlns:a="http://schemas.openxmlformats.org/drawingml/2006/main">
              <a:ext uri="{FF2B5EF4-FFF2-40B4-BE49-F238E27FC236}">
                <a16:creationId xmlns:a16="http://schemas.microsoft.com/office/drawing/2014/main" id="{87FC6D8C-8A3F-4F36-93ED-2C75BDA5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400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Система-потребитель</a:t>
            </a:r>
          </a:p>
        </p:txBody>
      </p:sp>
      <p:sp>
        <p:nvSpPr>
          <p:cNvPr id="7" name="diagram-20">
            <a:extLst xmlns:a="http://schemas.openxmlformats.org/drawingml/2006/main">
              <a:ext uri="{FF2B5EF4-FFF2-40B4-BE49-F238E27FC236}">
                <a16:creationId xmlns:a16="http://schemas.microsoft.com/office/drawing/2014/main" id="{5D867348-6E5A-4C07-A43A-11A3AB93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43325"/>
            <a:ext cx="4857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LLM</a:t>
            </a:r>
          </a:p>
        </p:txBody>
      </p:sp>
      <p:sp>
        <p:nvSpPr>
          <p:cNvPr id="8" name="diagram-21">
            <a:extLst xmlns:a="http://schemas.openxmlformats.org/drawingml/2006/main">
              <a:ext uri="{FF2B5EF4-FFF2-40B4-BE49-F238E27FC236}">
                <a16:creationId xmlns:a16="http://schemas.microsoft.com/office/drawing/2014/main" id="{1DD087A2-5D56-40AE-91EA-72FB09B2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400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Система-потребитель</a:t>
            </a:r>
          </a:p>
        </p:txBody>
      </p:sp>
      <p:sp>
        <p:nvSpPr>
          <p:cNvPr id="9" name="diagram-22">
            <a:extLst xmlns:a="http://schemas.openxmlformats.org/drawingml/2006/main">
              <a:ext uri="{FF2B5EF4-FFF2-40B4-BE49-F238E27FC236}">
                <a16:creationId xmlns:a16="http://schemas.microsoft.com/office/drawing/2014/main" id="{CDC2C758-369A-4AEA-B4EA-6F123EA2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57800"/>
            <a:ext cx="4857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Сервис маскирования ПД</a:t>
            </a:r>
          </a:p>
        </p:txBody>
      </p: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67250" y="256222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667250" y="4076700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667250" y="55911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947A8C7F-BDA4-4957-B83F-EAA03D47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Запрос с ПД</a:t>
            </a:r>
          </a:p>
        </p:txBody>
      </p:sp>
      <p:sp>
        <p:nvSpPr>
          <p:cNvPr id="14" name="text-24">
            <a:extLst xmlns:a="http://schemas.openxmlformats.org/drawingml/2006/main">
              <a:ext uri="{FF2B5EF4-FFF2-40B4-BE49-F238E27FC236}">
                <a16:creationId xmlns:a16="http://schemas.microsoft.com/office/drawing/2014/main" id="{80D5CDC1-9869-4945-B88C-06BC66D2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24225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Маскированный запрос</a:t>
            </a:r>
          </a:p>
        </p:txBody>
      </p:sp>
      <p:sp>
        <p:nvSpPr>
          <p:cNvPr id="15" name="text-25">
            <a:extLst xmlns:a="http://schemas.openxmlformats.org/drawingml/2006/main">
              <a:ext uri="{FF2B5EF4-FFF2-40B4-BE49-F238E27FC236}">
                <a16:creationId xmlns:a16="http://schemas.microsoft.com/office/drawing/2014/main" id="{F99E9C18-9804-4EE6-9643-68254DBB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Ответ LLM с масками</a:t>
            </a:r>
          </a:p>
        </p:txBody>
      </p:sp>
      <p:sp>
        <p:nvSpPr>
          <p:cNvPr id="16" name="text-26">
            <a:extLst xmlns:a="http://schemas.openxmlformats.org/drawingml/2006/main">
              <a:ext uri="{FF2B5EF4-FFF2-40B4-BE49-F238E27FC236}">
                <a16:creationId xmlns:a16="http://schemas.microsoft.com/office/drawing/2014/main" id="{559451AB-7041-45EE-ABC5-81E11357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943225"/>
            <a:ext cx="466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Возвращает текст с масками</a:t>
            </a:r>
          </a:p>
        </p:txBody>
      </p:sp>
      <p:sp>
        <p:nvSpPr>
          <p:cNvPr id="17" name="text-27">
            <a:extLst xmlns:a="http://schemas.openxmlformats.org/drawingml/2006/main">
              <a:ext uri="{FF2B5EF4-FFF2-40B4-BE49-F238E27FC236}">
                <a16:creationId xmlns:a16="http://schemas.microsoft.com/office/drawing/2014/main" id="{253AF9A5-4681-42E2-B2FF-7651163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57700"/>
            <a:ext cx="466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Возвращает ответ с масками</a:t>
            </a:r>
          </a:p>
        </p:txBody>
      </p:sp>
      <p:sp>
        <p:nvSpPr>
          <p:cNvPr id="18" name="text-28">
            <a:extLst xmlns:a="http://schemas.openxmlformats.org/drawingml/2006/main">
              <a:ext uri="{FF2B5EF4-FFF2-40B4-BE49-F238E27FC236}">
                <a16:creationId xmlns:a16="http://schemas.microsoft.com/office/drawing/2014/main" id="{B6AA26EB-1C2D-4586-B8DD-2B5B5980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972175"/>
            <a:ext cx="466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Возвращает ответ с исходными ПД</a:t>
            </a:r>
          </a:p>
        </p:txBody>
      </p:sp>
    </p:spTree>
    <p:extLst>
      <p:ext uri="{BB962C8B-B14F-4D97-AF65-F5344CB8AC3E}">
        <p14:creationId xmlns:p14="http://schemas.microsoft.com/office/powerpoint/2010/main" val="13291555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9">
            <a:extLst xmlns:a="http://schemas.openxmlformats.org/drawingml/2006/main">
              <a:ext uri="{FF2B5EF4-FFF2-40B4-BE49-F238E27FC236}">
                <a16:creationId xmlns:a16="http://schemas.microsoft.com/office/drawing/2014/main" id="{D66DB8F9-B0D0-4BD3-A1D9-8BBABBE8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30">
            <a:extLst xmlns:a="http://schemas.openxmlformats.org/drawingml/2006/main">
              <a:ext uri="{FF2B5EF4-FFF2-40B4-BE49-F238E27FC236}">
                <a16:creationId xmlns:a16="http://schemas.microsoft.com/office/drawing/2014/main" id="{322F3247-FBE9-408A-9BFA-065003AB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text-31">
            <a:extLst xmlns:a="http://schemas.openxmlformats.org/drawingml/2006/main">
              <a:ext uri="{FF2B5EF4-FFF2-40B4-BE49-F238E27FC236}">
                <a16:creationId xmlns:a16="http://schemas.microsoft.com/office/drawing/2014/main" id="{A8ABE7BF-19F8-445D-8D59-E43CF834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Архитектура сервиса</a:t>
            </a:r>
          </a:p>
        </p:txBody>
      </p:sp>
      <p:sp>
        <p:nvSpPr>
          <p:cNvPr id="4" name="diagram-32">
            <a:extLst xmlns:a="http://schemas.openxmlformats.org/drawingml/2006/main">
              <a:ext uri="{FF2B5EF4-FFF2-40B4-BE49-F238E27FC236}">
                <a16:creationId xmlns:a16="http://schemas.microsoft.com/office/drawing/2014/main" id="{245D15AC-E849-4B7D-987B-B617DC4A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905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HTTP API</a:t>
            </a:r>
          </a:p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FastAPI</a:t>
            </a:r>
          </a:p>
        </p:txBody>
      </p:sp>
      <p:sp>
        <p:nvSpPr>
          <p:cNvPr id="5" name="diagram-33">
            <a:extLst xmlns:a="http://schemas.openxmlformats.org/drawingml/2006/main">
              <a:ext uri="{FF2B5EF4-FFF2-40B4-BE49-F238E27FC236}">
                <a16:creationId xmlns:a16="http://schemas.microsoft.com/office/drawing/2014/main" id="{15CC5DCC-05D8-418E-A493-C793DC89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28925"/>
            <a:ext cx="2743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32D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ProcessService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сессия и режим обработки</a:t>
            </a:r>
          </a:p>
        </p:txBody>
      </p:sp>
      <p:sp>
        <p:nvSpPr>
          <p:cNvPr id="6" name="diagram-34">
            <a:extLst xmlns:a="http://schemas.openxmlformats.org/drawingml/2006/main">
              <a:ext uri="{FF2B5EF4-FFF2-40B4-BE49-F238E27FC236}">
                <a16:creationId xmlns:a16="http://schemas.microsoft.com/office/drawing/2014/main" id="{69DBD8A3-36F3-49CD-86B0-40A2E7F4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19350"/>
            <a:ext cx="4191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PII Engine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поиск и границы ПД</a:t>
            </a:r>
          </a:p>
        </p:txBody>
      </p:sp>
      <p:sp>
        <p:nvSpPr>
          <p:cNvPr id="7" name="diagram-35">
            <a:extLst xmlns:a="http://schemas.openxmlformats.org/drawingml/2006/main">
              <a:ext uri="{FF2B5EF4-FFF2-40B4-BE49-F238E27FC236}">
                <a16:creationId xmlns:a16="http://schemas.microsoft.com/office/drawing/2014/main" id="{91FEA699-BF89-4732-AEF1-2DAEABEB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33825"/>
            <a:ext cx="4191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Маскирование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 восстановление</a:t>
            </a:r>
          </a:p>
        </p:txBody>
      </p:sp>
      <p:sp>
        <p:nvSpPr>
          <p:cNvPr id="8" name="diagram-36">
            <a:extLst xmlns:a="http://schemas.openxmlformats.org/drawingml/2006/main">
              <a:ext uri="{FF2B5EF4-FFF2-40B4-BE49-F238E27FC236}">
                <a16:creationId xmlns:a16="http://schemas.microsoft.com/office/drawing/2014/main" id="{7BD227FB-AA89-484D-9962-707B4F1C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971675"/>
            <a:ext cx="2743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Политики систем</a:t>
            </a:r>
          </a:p>
          <a:p xmlns:a="http://schemas.openxmlformats.org/drawingml/2006/main">
            <a:pPr algn="ctr">
              <a:def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категории и разрешения</a:t>
            </a:r>
          </a:p>
        </p:txBody>
      </p:sp>
      <p:sp>
        <p:nvSpPr>
          <p:cNvPr id="9" name="diagram-37">
            <a:extLst xmlns:a="http://schemas.openxmlformats.org/drawingml/2006/main">
              <a:ext uri="{FF2B5EF4-FFF2-40B4-BE49-F238E27FC236}">
                <a16:creationId xmlns:a16="http://schemas.microsoft.com/office/drawing/2014/main" id="{3549AABE-6663-4925-95E4-20C5E28B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991100"/>
            <a:ext cx="27432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Redis</a:t>
            </a:r>
          </a:p>
          <a:p xmlns:a="http://schemas.openxmlformats.org/drawingml/2006/main">
            <a:pPr algn="ctr">
              <a:def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AES-GCM, TTL</a:t>
            </a:r>
          </a:p>
        </p:txBody>
      </p: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514600" y="3409950"/>
            <a:ext cx="942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200775" y="2886075"/>
            <a:ext cx="942975" cy="523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200775" y="3409950"/>
            <a:ext cx="942975" cy="990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8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4829175" y="2600325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05C64"/>
            </a:solidFill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5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4829175" y="3990975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15" name="text-38">
            <a:extLst xmlns:a="http://schemas.openxmlformats.org/drawingml/2006/main">
              <a:ext uri="{FF2B5EF4-FFF2-40B4-BE49-F238E27FC236}">
                <a16:creationId xmlns:a16="http://schemas.microsoft.com/office/drawing/2014/main" id="{0586DBB5-5BC3-47B9-AA0D-082D9C99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POST /process</a:t>
            </a:r>
          </a:p>
        </p:txBody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76E906B0-E67F-4878-90DA-4C809F77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72075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Общая память для</a:t>
            </a:r>
          </a:p>
          <a:p xmlns:a="http://schemas.openxmlformats.org/drawingml/2006/main">
            <a:pPr algn="l">
              <a:defRPr sz="157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рабочих процессов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ADCE89C9-1E63-410A-BB52-4DBA160E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95900"/>
            <a:ext cx="4238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Локальная обработка текста</a:t>
            </a:r>
          </a:p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без внешних NLP-вызовов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35B14A87-0DFC-4A54-818B-C247EEC0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Один сервис приложения и приватный Redis. Docker обеспечивает воспроизводимый запуск.</a:t>
            </a:r>
          </a:p>
        </p:txBody>
      </p:sp>
    </p:spTree>
    <p:extLst>
      <p:ext uri="{BB962C8B-B14F-4D97-AF65-F5344CB8AC3E}">
        <p14:creationId xmlns:p14="http://schemas.microsoft.com/office/powerpoint/2010/main" val="12980103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42">
            <a:extLst xmlns:a="http://schemas.openxmlformats.org/drawingml/2006/main">
              <a:ext uri="{FF2B5EF4-FFF2-40B4-BE49-F238E27FC236}">
                <a16:creationId xmlns:a16="http://schemas.microsoft.com/office/drawing/2014/main" id="{2449DDD1-E431-4CF4-BAF1-E4AC3C4B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654524E3-2CF3-489F-982D-07A29538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7E02CC7B-F16B-4315-B176-15E60B9C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Обоснование выбора стека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9FE568E1-9595-4633-80CA-C0381E40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331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Python + FastAPI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EEA17F0D-E273-46B1-8AAF-C41363C8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24075"/>
            <a:ext cx="712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Обработка текста, строгая схема запроса и простой HTTP API.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F984D-09B3-4413-B145-7BD6C50C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4B9B9"/>
            </a:solidFill>
          </a:ln>
        </p:spPr>
      </p:sp>
      <p:sp>
        <p:nvSpPr>
          <p:cNvPr id="7" name="text-47">
            <a:extLst xmlns:a="http://schemas.openxmlformats.org/drawingml/2006/main">
              <a:ext uri="{FF2B5EF4-FFF2-40B4-BE49-F238E27FC236}">
                <a16:creationId xmlns:a16="http://schemas.microsoft.com/office/drawing/2014/main" id="{D9087392-9F5C-433F-8936-15C5ACFF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331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Локальные правила поиска</a:t>
            </a:r>
          </a:p>
        </p:txBody>
      </p:sp>
      <p:sp>
        <p:nvSpPr>
          <p:cNvPr id="8" name="text-48">
            <a:extLst xmlns:a="http://schemas.openxmlformats.org/drawingml/2006/main">
              <a:ext uri="{FF2B5EF4-FFF2-40B4-BE49-F238E27FC236}">
                <a16:creationId xmlns:a16="http://schemas.microsoft.com/office/drawing/2014/main" id="{2392C1E4-9397-445F-B00F-BE7572ED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86075"/>
            <a:ext cx="712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Контроль границ и контекста без передачи ПД внешним моделям.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F3663-3437-43D8-8E7F-40D7E517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4B9B9"/>
            </a:solidFill>
          </a:ln>
        </p:spPr>
      </p:sp>
      <p:sp>
        <p:nvSpPr>
          <p:cNvPr id="10" name="text-49">
            <a:extLst xmlns:a="http://schemas.openxmlformats.org/drawingml/2006/main">
              <a:ext uri="{FF2B5EF4-FFF2-40B4-BE49-F238E27FC236}">
                <a16:creationId xmlns:a16="http://schemas.microsoft.com/office/drawing/2014/main" id="{13E5DA60-F6B7-4C72-BAAE-9307683D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331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Redis + AES-GCM</a:t>
            </a:r>
          </a:p>
        </p:txBody>
      </p:sp>
      <p:sp>
        <p:nvSpPr>
          <p:cNvPr id="11" name="text-50">
            <a:extLst xmlns:a="http://schemas.openxmlformats.org/drawingml/2006/main">
              <a:ext uri="{FF2B5EF4-FFF2-40B4-BE49-F238E27FC236}">
                <a16:creationId xmlns:a16="http://schemas.microsoft.com/office/drawing/2014/main" id="{8453AC1E-CA0E-4603-98F2-A9094D92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48075"/>
            <a:ext cx="712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Общее состояние для процессов, атомарное создание сессий и TTL.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1119C4-68D4-4D9A-8C3D-70F6BE1A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4B9B9"/>
            </a:solidFill>
          </a:ln>
        </p:spPr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452FE065-7CAE-4B03-8614-38A52C3D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1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Uvicorn + Docker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A65C30FE-4A65-49F5-9F4A-C7BBC278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10075"/>
            <a:ext cx="712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Несколько рабочих процессов и воспроизводимое развёртывание.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8FB09A-FE1F-4998-B303-D56CC512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4B9B9"/>
            </a:solidFill>
          </a:ln>
        </p:spPr>
      </p:sp>
      <p:sp>
        <p:nvSpPr>
          <p:cNvPr id="16" name="text-53">
            <a:extLst xmlns:a="http://schemas.openxmlformats.org/drawingml/2006/main">
              <a:ext uri="{FF2B5EF4-FFF2-40B4-BE49-F238E27FC236}">
                <a16:creationId xmlns:a16="http://schemas.microsoft.com/office/drawing/2014/main" id="{3973BE55-3CA9-4C43-A8FD-18901621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331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Prometheus + k6</a:t>
            </a:r>
          </a:p>
        </p:txBody>
      </p:sp>
      <p:sp>
        <p:nvSpPr>
          <p:cNvPr id="17" name="text-54">
            <a:extLst xmlns:a="http://schemas.openxmlformats.org/drawingml/2006/main">
              <a:ext uri="{FF2B5EF4-FFF2-40B4-BE49-F238E27FC236}">
                <a16:creationId xmlns:a16="http://schemas.microsoft.com/office/drawing/2014/main" id="{1C408249-29DD-4658-B70A-A9395CBE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172075"/>
            <a:ext cx="712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Наблюдение за сервисом и измерение поведения под нагрузкой.</a:t>
            </a:r>
          </a:p>
        </p:txBody>
      </p:sp>
    </p:spTree>
    <p:extLst>
      <p:ext uri="{BB962C8B-B14F-4D97-AF65-F5344CB8AC3E}">
        <p14:creationId xmlns:p14="http://schemas.microsoft.com/office/powerpoint/2010/main" val="9107418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5">
            <a:extLst xmlns:a="http://schemas.openxmlformats.org/drawingml/2006/main">
              <a:ext uri="{FF2B5EF4-FFF2-40B4-BE49-F238E27FC236}">
                <a16:creationId xmlns:a16="http://schemas.microsoft.com/office/drawing/2014/main" id="{DD4552C7-DADC-488D-AEF4-CA0D6DD7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56">
            <a:extLst xmlns:a="http://schemas.openxmlformats.org/drawingml/2006/main">
              <a:ext uri="{FF2B5EF4-FFF2-40B4-BE49-F238E27FC236}">
                <a16:creationId xmlns:a16="http://schemas.microsoft.com/office/drawing/2014/main" id="{93C6ACCA-B64E-4986-A444-D9BA4B2F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" name="text-57">
            <a:extLst xmlns:a="http://schemas.openxmlformats.org/drawingml/2006/main">
              <a:ext uri="{FF2B5EF4-FFF2-40B4-BE49-F238E27FC236}">
                <a16:creationId xmlns:a16="http://schemas.microsoft.com/office/drawing/2014/main" id="{0FD99E0B-C7EF-4CD2-A59F-35820E6D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Данные, которые маскирует сервис</a:t>
            </a:r>
          </a:p>
        </p:txBody>
      </p:sp>
      <p:sp>
        <p:nvSpPr>
          <p:cNvPr id="4" name="text-58">
            <a:extLst xmlns:a="http://schemas.openxmlformats.org/drawingml/2006/main">
              <a:ext uri="{FF2B5EF4-FFF2-40B4-BE49-F238E27FC236}">
                <a16:creationId xmlns:a16="http://schemas.microsoft.com/office/drawing/2014/main" id="{745A43B9-475A-4837-AC38-C9A4FA61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О человеке</a:t>
            </a:r>
          </a:p>
        </p:txBody>
      </p:sp>
      <p:sp>
        <p:nvSpPr>
          <p:cNvPr id="5" name="text-59">
            <a:extLst xmlns:a="http://schemas.openxmlformats.org/drawingml/2006/main">
              <a:ext uri="{FF2B5EF4-FFF2-40B4-BE49-F238E27FC236}">
                <a16:creationId xmlns:a16="http://schemas.microsoft.com/office/drawing/2014/main" id="{B2E10A77-93E6-444A-B4EE-04655CDB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ФИО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Дата рождения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Место рождения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Гражданство</a:t>
            </a:r>
          </a:p>
        </p:txBody>
      </p:sp>
      <p:sp>
        <p:nvSpPr>
          <p:cNvPr id="6" name="text-60">
            <a:extLst xmlns:a="http://schemas.openxmlformats.org/drawingml/2006/main">
              <a:ext uri="{FF2B5EF4-FFF2-40B4-BE49-F238E27FC236}">
                <a16:creationId xmlns:a16="http://schemas.microsoft.com/office/drawing/2014/main" id="{4964614A-5C9D-4FCB-A166-16A43B9F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145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Документы</a:t>
            </a:r>
          </a:p>
        </p:txBody>
      </p:sp>
      <p:sp>
        <p:nvSpPr>
          <p:cNvPr id="7" name="text-61">
            <a:extLst xmlns:a="http://schemas.openxmlformats.org/drawingml/2006/main">
              <a:ext uri="{FF2B5EF4-FFF2-40B4-BE49-F238E27FC236}">
                <a16:creationId xmlns:a16="http://schemas.microsoft.com/office/drawing/2014/main" id="{47174059-9FE5-4618-8A18-DE9AE3F7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5275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Серия и номер паспорта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Орган выдачи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Код подразделения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Дата выдачи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Водительское удостоверение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ИНН</a:t>
            </a:r>
          </a:p>
        </p:txBody>
      </p:sp>
      <p:sp>
        <p:nvSpPr>
          <p:cNvPr id="8" name="text-62">
            <a:extLst xmlns:a="http://schemas.openxmlformats.org/drawingml/2006/main">
              <a:ext uri="{FF2B5EF4-FFF2-40B4-BE49-F238E27FC236}">
                <a16:creationId xmlns:a16="http://schemas.microsoft.com/office/drawing/2014/main" id="{9002ACA5-3BE0-4795-8612-1D432465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145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Адрес и связь</a:t>
            </a:r>
          </a:p>
        </p:txBody>
      </p:sp>
      <p:sp>
        <p:nvSpPr>
          <p:cNvPr id="9" name="text-63">
            <a:extLst xmlns:a="http://schemas.openxmlformats.org/drawingml/2006/main">
              <a:ext uri="{FF2B5EF4-FFF2-40B4-BE49-F238E27FC236}">
                <a16:creationId xmlns:a16="http://schemas.microsoft.com/office/drawing/2014/main" id="{B85B740A-0F51-4BBC-801A-9E020B0A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5275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Адрес и его части: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страна, индекс, город,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улица, дом, квартира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Телефон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Email</a:t>
            </a:r>
          </a:p>
        </p:txBody>
      </p:sp>
      <p:sp>
        <p:nvSpPr>
          <p:cNvPr id="10" name="text-64">
            <a:extLst xmlns:a="http://schemas.openxmlformats.org/drawingml/2006/main">
              <a:ext uri="{FF2B5EF4-FFF2-40B4-BE49-F238E27FC236}">
                <a16:creationId xmlns:a16="http://schemas.microsoft.com/office/drawing/2014/main" id="{6EDA3828-3C1D-4C8B-A329-4B1E8816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145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Банковские данные</a:t>
            </a:r>
          </a:p>
        </p:txBody>
      </p:sp>
      <p:sp>
        <p:nvSpPr>
          <p:cNvPr id="11" name="text-65">
            <a:extLst xmlns:a="http://schemas.openxmlformats.org/drawingml/2006/main">
              <a:ext uri="{FF2B5EF4-FFF2-40B4-BE49-F238E27FC236}">
                <a16:creationId xmlns:a16="http://schemas.microsoft.com/office/drawing/2014/main" id="{ED01C074-5BE4-48D4-A567-285CCA00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52750"/>
            <a:ext cx="2609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Номер карты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CVV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ПИН-код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Имя держателя карты</a:t>
            </a:r>
          </a:p>
        </p:txBody>
      </p:sp>
      <p:sp>
        <p:nvSpPr>
          <p:cNvPr id="12" name="text-66">
            <a:extLst xmlns:a="http://schemas.openxmlformats.org/drawingml/2006/main">
              <a:ext uri="{FF2B5EF4-FFF2-40B4-BE49-F238E27FC236}">
                <a16:creationId xmlns:a16="http://schemas.microsoft.com/office/drawing/2014/main" id="{EB015E0B-8D41-4C9C-BDAA-C189D3F0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Набор правил охватывает типы из ТЗ. Качество проверяется отдельно на размеченных примерах.</a:t>
            </a:r>
          </a:p>
        </p:txBody>
      </p:sp>
    </p:spTree>
    <p:extLst>
      <p:ext uri="{BB962C8B-B14F-4D97-AF65-F5344CB8AC3E}">
        <p14:creationId xmlns:p14="http://schemas.microsoft.com/office/powerpoint/2010/main" val="20992870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67">
            <a:extLst xmlns:a="http://schemas.openxmlformats.org/drawingml/2006/main">
              <a:ext uri="{FF2B5EF4-FFF2-40B4-BE49-F238E27FC236}">
                <a16:creationId xmlns:a16="http://schemas.microsoft.com/office/drawing/2014/main" id="{CA0D1778-A7F4-4345-B1AC-F163AFAF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68">
            <a:extLst xmlns:a="http://schemas.openxmlformats.org/drawingml/2006/main">
              <a:ext uri="{FF2B5EF4-FFF2-40B4-BE49-F238E27FC236}">
                <a16:creationId xmlns:a16="http://schemas.microsoft.com/office/drawing/2014/main" id="{D39BD967-FB0C-4C31-9C12-BD6EB59E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text-69">
            <a:extLst xmlns:a="http://schemas.openxmlformats.org/drawingml/2006/main">
              <a:ext uri="{FF2B5EF4-FFF2-40B4-BE49-F238E27FC236}">
                <a16:creationId xmlns:a16="http://schemas.microsoft.com/office/drawing/2014/main" id="{BC5EE563-959D-424C-BCB3-E87C9F1B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Методика поиска ПД</a:t>
            </a:r>
          </a:p>
        </p:txBody>
      </p:sp>
      <p:sp>
        <p:nvSpPr>
          <p:cNvPr id="4" name="diagram-70">
            <a:extLst xmlns:a="http://schemas.openxmlformats.org/drawingml/2006/main">
              <a:ext uri="{FF2B5EF4-FFF2-40B4-BE49-F238E27FC236}">
                <a16:creationId xmlns:a16="http://schemas.microsoft.com/office/drawing/2014/main" id="{314F464D-CCB6-4DDE-A90B-B712D2B9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217170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Нормализация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текста</a:t>
            </a:r>
          </a:p>
        </p:txBody>
      </p:sp>
      <p:sp>
        <p:nvSpPr>
          <p:cNvPr id="5" name="diagram-71">
            <a:extLst xmlns:a="http://schemas.openxmlformats.org/drawingml/2006/main">
              <a:ext uri="{FF2B5EF4-FFF2-40B4-BE49-F238E27FC236}">
                <a16:creationId xmlns:a16="http://schemas.microsoft.com/office/drawing/2014/main" id="{0B8E1691-C7B1-4751-90BB-EC82DDE2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90775"/>
            <a:ext cx="217170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Поиск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кандидатов</a:t>
            </a:r>
          </a:p>
        </p:txBody>
      </p:sp>
      <p:sp>
        <p:nvSpPr>
          <p:cNvPr id="6" name="diagram-72">
            <a:extLst xmlns:a="http://schemas.openxmlformats.org/drawingml/2006/main">
              <a:ext uri="{FF2B5EF4-FFF2-40B4-BE49-F238E27FC236}">
                <a16:creationId xmlns:a16="http://schemas.microsoft.com/office/drawing/2014/main" id="{1E103787-E458-4E2F-A483-9C04EF6E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90775"/>
            <a:ext cx="217170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Проверка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контекста</a:t>
            </a:r>
          </a:p>
        </p:txBody>
      </p:sp>
      <p:sp>
        <p:nvSpPr>
          <p:cNvPr id="7" name="diagram-73">
            <a:extLst xmlns:a="http://schemas.openxmlformats.org/drawingml/2006/main">
              <a:ext uri="{FF2B5EF4-FFF2-40B4-BE49-F238E27FC236}">
                <a16:creationId xmlns:a16="http://schemas.microsoft.com/office/drawing/2014/main" id="{C8DFD75A-9682-450B-AB56-6EA480A0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390775"/>
            <a:ext cx="232410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Выбор типа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 границ</a:t>
            </a:r>
          </a:p>
        </p:txBody>
      </p:sp>
      <p:cxnSp>
        <p:nvCxnSpPr>
          <p:cNvPr id="2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781300" y="2852738"/>
            <a:ext cx="695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648325" y="28527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534400" y="28527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11" name="text-74">
            <a:extLst xmlns:a="http://schemas.openxmlformats.org/drawingml/2006/main">
              <a:ext uri="{FF2B5EF4-FFF2-40B4-BE49-F238E27FC236}">
                <a16:creationId xmlns:a16="http://schemas.microsoft.com/office/drawing/2014/main" id="{B0FDB948-10C0-4EF9-A085-A6035431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2324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Сохраняем связь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с позициями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исходной строки.</a:t>
            </a:r>
          </a:p>
        </p:txBody>
      </p:sp>
      <p:sp>
        <p:nvSpPr>
          <p:cNvPr id="12" name="text-75">
            <a:extLst xmlns:a="http://schemas.openxmlformats.org/drawingml/2006/main">
              <a:ext uri="{FF2B5EF4-FFF2-40B4-BE49-F238E27FC236}">
                <a16:creationId xmlns:a16="http://schemas.microsoft.com/office/drawing/2014/main" id="{B4EBCBB0-C804-47D3-BE20-FDDBD5DD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609975"/>
            <a:ext cx="24479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Шаблоны, метки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полей, форматы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и контрольные суммы.</a:t>
            </a:r>
          </a:p>
        </p:txBody>
      </p:sp>
      <p:sp>
        <p:nvSpPr>
          <p:cNvPr id="13" name="text-76">
            <a:extLst xmlns:a="http://schemas.openxmlformats.org/drawingml/2006/main">
              <a:ext uri="{FF2B5EF4-FFF2-40B4-BE49-F238E27FC236}">
                <a16:creationId xmlns:a16="http://schemas.microsoft.com/office/drawing/2014/main" id="{54CB7CBD-E4D1-4F0F-A483-DF5DF900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0997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Отличаем ПД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от обычной даты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или адреса банка.</a:t>
            </a:r>
          </a:p>
        </p:txBody>
      </p:sp>
      <p:sp>
        <p:nvSpPr>
          <p:cNvPr id="14" name="text-77">
            <a:extLst xmlns:a="http://schemas.openxmlformats.org/drawingml/2006/main">
              <a:ext uri="{FF2B5EF4-FFF2-40B4-BE49-F238E27FC236}">
                <a16:creationId xmlns:a16="http://schemas.microsoft.com/office/drawing/2014/main" id="{5D0F0923-9828-4206-B021-37D080F2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60997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Разрешаем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пересечения.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Сохраняем остальной текст.</a:t>
            </a:r>
          </a:p>
        </p:txBody>
      </p:sp>
      <p:sp>
        <p:nvSpPr>
          <p:cNvPr id="15" name="text-78">
            <a:extLst xmlns:a="http://schemas.openxmlformats.org/drawingml/2006/main">
              <a:ext uri="{FF2B5EF4-FFF2-40B4-BE49-F238E27FC236}">
                <a16:creationId xmlns:a16="http://schemas.microsoft.com/office/drawing/2014/main" id="{30CA014D-12CE-4E68-9EFC-B00A5CE9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Новые правила подключаются через реестр детекторов. HTTP-контракт и работа сессий сохраняются.</a:t>
            </a:r>
          </a:p>
        </p:txBody>
      </p:sp>
    </p:spTree>
    <p:extLst>
      <p:ext uri="{BB962C8B-B14F-4D97-AF65-F5344CB8AC3E}">
        <p14:creationId xmlns:p14="http://schemas.microsoft.com/office/powerpoint/2010/main" val="10686066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79">
            <a:extLst xmlns:a="http://schemas.openxmlformats.org/drawingml/2006/main">
              <a:ext uri="{FF2B5EF4-FFF2-40B4-BE49-F238E27FC236}">
                <a16:creationId xmlns:a16="http://schemas.microsoft.com/office/drawing/2014/main" id="{113A674E-C42A-429E-B436-05D46E15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D3CBDEFE-3567-46FA-BE1E-6CB51580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DD1D631F-42C6-490F-BED7-C53DEBEE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Маскирование и восстановление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7DDED06E-31C8-4A67-A5FF-5EAC6123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Входные данные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6E8E24A3-CF76-479E-A3A9-A8F1E748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14312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Выходные данные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A35AB5F4-5BD0-4E74-B538-EDE01366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Маскирование запроса</a:t>
            </a:r>
          </a:p>
        </p:txBody>
      </p:sp>
      <p:sp>
        <p:nvSpPr>
          <p:cNvPr id="7" name="diagram-85">
            <a:extLst xmlns:a="http://schemas.openxmlformats.org/drawingml/2006/main">
              <a:ext uri="{FF2B5EF4-FFF2-40B4-BE49-F238E27FC236}">
                <a16:creationId xmlns:a16="http://schemas.microsoft.com/office/drawing/2014/main" id="{ACFB59D6-B9D3-458A-9F75-41BB3D38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4810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Напишите на demo@example.com.</a:t>
            </a:r>
          </a:p>
        </p:txBody>
      </p:sp>
      <p:sp>
        <p:nvSpPr>
          <p:cNvPr id="8" name="diagram-86">
            <a:extLst xmlns:a="http://schemas.openxmlformats.org/drawingml/2006/main">
              <a:ext uri="{FF2B5EF4-FFF2-40B4-BE49-F238E27FC236}">
                <a16:creationId xmlns:a16="http://schemas.microsoft.com/office/drawing/2014/main" id="{3E6680B3-9C9A-4A67-8D4C-B8BB5B05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62325"/>
            <a:ext cx="47720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Напишите на &lt;EMAIL_1&gt;.</a:t>
            </a:r>
          </a:p>
        </p:txBody>
      </p: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419725" y="3752850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10" name="text-87">
            <a:extLst xmlns:a="http://schemas.openxmlformats.org/drawingml/2006/main">
              <a:ext uri="{FF2B5EF4-FFF2-40B4-BE49-F238E27FC236}">
                <a16:creationId xmlns:a16="http://schemas.microsoft.com/office/drawing/2014/main" id="{ED04ABA1-F837-4F5E-B17F-AEDBB8AF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Восстановление ответа модели</a:t>
            </a:r>
          </a:p>
        </p:txBody>
      </p:sp>
      <p:sp>
        <p:nvSpPr>
          <p:cNvPr id="11" name="diagram-88">
            <a:extLst xmlns:a="http://schemas.openxmlformats.org/drawingml/2006/main">
              <a:ext uri="{FF2B5EF4-FFF2-40B4-BE49-F238E27FC236}">
                <a16:creationId xmlns:a16="http://schemas.microsoft.com/office/drawing/2014/main" id="{74AD350F-EF0E-4D69-8415-546FE010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810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Ответ отправлен на &lt;EMAIL_1&gt;.</a:t>
            </a:r>
          </a:p>
        </p:txBody>
      </p:sp>
      <p:sp>
        <p:nvSpPr>
          <p:cNvPr id="12" name="diagram-89">
            <a:extLst xmlns:a="http://schemas.openxmlformats.org/drawingml/2006/main">
              <a:ext uri="{FF2B5EF4-FFF2-40B4-BE49-F238E27FC236}">
                <a16:creationId xmlns:a16="http://schemas.microsoft.com/office/drawing/2014/main" id="{E88BAC63-58CD-4123-ABD6-6ECB9DB6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086350"/>
            <a:ext cx="47720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Ответ отправлен на demo@example.com.</a:t>
            </a:r>
          </a:p>
        </p:txBody>
      </p:sp>
      <p:cxnSp>
        <p:nvCxnSpPr>
          <p:cNvPr id="27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419725" y="5476875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14" name="text-90">
            <a:extLst xmlns:a="http://schemas.openxmlformats.org/drawingml/2006/main">
              <a:ext uri="{FF2B5EF4-FFF2-40B4-BE49-F238E27FC236}">
                <a16:creationId xmlns:a16="http://schemas.microsoft.com/office/drawing/2014/main" id="{FBE8B9F1-AAA5-44A6-AB83-5AC595CA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Один payload_id связывает запрос и ответ. Текст ответа сохраняется. Пример синтетический.</a:t>
            </a:r>
          </a:p>
        </p:txBody>
      </p:sp>
    </p:spTree>
    <p:extLst>
      <p:ext uri="{BB962C8B-B14F-4D97-AF65-F5344CB8AC3E}">
        <p14:creationId xmlns:p14="http://schemas.microsoft.com/office/powerpoint/2010/main" val="16253502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91">
            <a:extLst xmlns:a="http://schemas.openxmlformats.org/drawingml/2006/main">
              <a:ext uri="{FF2B5EF4-FFF2-40B4-BE49-F238E27FC236}">
                <a16:creationId xmlns:a16="http://schemas.microsoft.com/office/drawing/2014/main" id="{7F03BACA-C4DC-4A1F-B386-B380567D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92">
            <a:extLst xmlns:a="http://schemas.openxmlformats.org/drawingml/2006/main">
              <a:ext uri="{FF2B5EF4-FFF2-40B4-BE49-F238E27FC236}">
                <a16:creationId xmlns:a16="http://schemas.microsoft.com/office/drawing/2014/main" id="{AC8DDCEB-E3FA-47FB-AB21-BE20108E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3" name="text-93">
            <a:extLst xmlns:a="http://schemas.openxmlformats.org/drawingml/2006/main">
              <a:ext uri="{FF2B5EF4-FFF2-40B4-BE49-F238E27FC236}">
                <a16:creationId xmlns:a16="http://schemas.microsoft.com/office/drawing/2014/main" id="{083F4D5A-52C8-4717-9515-7AF98C57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HTTP-контракт и политики систем</a:t>
            </a:r>
          </a:p>
        </p:txBody>
      </p: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625E6B94-E8A2-4B28-895A-4282574F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POST /process</a:t>
            </a:r>
          </a:p>
        </p:txBody>
      </p:sp>
      <p:sp>
        <p:nvSpPr>
          <p:cNvPr id="5" name="text-95">
            <a:extLst xmlns:a="http://schemas.openxmlformats.org/drawingml/2006/main">
              <a:ext uri="{FF2B5EF4-FFF2-40B4-BE49-F238E27FC236}">
                <a16:creationId xmlns:a16="http://schemas.microsoft.com/office/drawing/2014/main" id="{17347319-06D2-4C4B-B6D2-1CDEFCA8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</p:txBody>
      </p:sp>
      <p:sp>
        <p:nvSpPr>
          <p:cNvPr id="6" name="text-96">
            <a:extLst xmlns:a="http://schemas.openxmlformats.org/drawingml/2006/main">
              <a:ext uri="{FF2B5EF4-FFF2-40B4-BE49-F238E27FC236}">
                <a16:creationId xmlns:a16="http://schemas.microsoft.com/office/drawing/2014/main" id="{37655258-C488-42CE-9738-9886285D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810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{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  "payload": "строка для обработки",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  "payload_id": "идентификатор"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}</a:t>
            </a:r>
          </a:p>
        </p:txBody>
      </p:sp>
      <p:sp>
        <p:nvSpPr>
          <p:cNvPr id="7" name="text-97">
            <a:extLst xmlns:a="http://schemas.openxmlformats.org/drawingml/2006/main">
              <a:ext uri="{FF2B5EF4-FFF2-40B4-BE49-F238E27FC236}">
                <a16:creationId xmlns:a16="http://schemas.microsoft.com/office/drawing/2014/main" id="{B9ADC984-B0D1-4FCB-913D-54626056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Ответ 200</a:t>
            </a:r>
          </a:p>
        </p:txBody>
      </p:sp>
      <p:sp>
        <p:nvSpPr>
          <p:cNvPr id="8" name="text-98">
            <a:extLst xmlns:a="http://schemas.openxmlformats.org/drawingml/2006/main">
              <a:ext uri="{FF2B5EF4-FFF2-40B4-BE49-F238E27FC236}">
                <a16:creationId xmlns:a16="http://schemas.microsoft.com/office/drawing/2014/main" id="{A100B1FA-D8E7-4AA7-BB75-0C7BA4AE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59721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{ "result": "обработанная строка" }</a:t>
            </a:r>
          </a:p>
        </p:txBody>
      </p:sp>
      <p:sp>
        <p:nvSpPr>
          <p:cNvPr id="9" name="text-99">
            <a:extLst xmlns:a="http://schemas.openxmlformats.org/drawingml/2006/main">
              <a:ext uri="{FF2B5EF4-FFF2-40B4-BE49-F238E27FC236}">
                <a16:creationId xmlns:a16="http://schemas.microsoft.com/office/drawing/2014/main" id="{5DD8567A-FEEB-48A8-99BB-8D7AED5D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4312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Настройки в YAML</a:t>
            </a:r>
          </a:p>
        </p:txBody>
      </p:sp>
      <p:sp>
        <p:nvSpPr>
          <p:cNvPr id="10" name="text-100">
            <a:extLst xmlns:a="http://schemas.openxmlformats.org/drawingml/2006/main">
              <a:ext uri="{FF2B5EF4-FFF2-40B4-BE49-F238E27FC236}">
                <a16:creationId xmlns:a16="http://schemas.microsoft.com/office/drawing/2014/main" id="{17775856-05E6-4DFE-A8D1-A767C49D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86075"/>
            <a:ext cx="4476750" cy="2009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Разрешение обращения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Категории ПД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Разрешение восстановления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Формат масок</a:t>
            </a:r>
          </a:p>
        </p:txBody>
      </p:sp>
      <p:sp>
        <p:nvSpPr>
          <p:cNvPr id="11" name="text-101">
            <a:extLst xmlns:a="http://schemas.openxmlformats.org/drawingml/2006/main">
              <a:ext uri="{FF2B5EF4-FFF2-40B4-BE49-F238E27FC236}">
                <a16:creationId xmlns:a16="http://schemas.microsoft.com/office/drawing/2014/main" id="{EF525D04-2646-4BA0-9E95-378551B8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2578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Новый потребитель добавляется</a:t>
            </a:r>
          </a:p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через конфигурацию.</a:t>
            </a:r>
          </a:p>
        </p:txBody>
      </p:sp>
      <p:sp>
        <p:nvSpPr>
          <p:cNvPr id="12" name="text-102">
            <a:extLst xmlns:a="http://schemas.openxmlformats.org/drawingml/2006/main">
              <a:ext uri="{FF2B5EF4-FFF2-40B4-BE49-F238E27FC236}">
                <a16:creationId xmlns:a16="http://schemas.microsoft.com/office/drawing/2014/main" id="{593F3323-98C4-4DEC-BF07-116B5919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В текущем deployment система задана конфигурацией. Авторизации отправителя в публичном API нет.</a:t>
            </a:r>
          </a:p>
        </p:txBody>
      </p:sp>
    </p:spTree>
    <p:extLst>
      <p:ext uri="{BB962C8B-B14F-4D97-AF65-F5344CB8AC3E}">
        <p14:creationId xmlns:p14="http://schemas.microsoft.com/office/powerpoint/2010/main" val="2365864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103">
            <a:extLst xmlns:a="http://schemas.openxmlformats.org/drawingml/2006/main">
              <a:ext uri="{FF2B5EF4-FFF2-40B4-BE49-F238E27FC236}">
                <a16:creationId xmlns:a16="http://schemas.microsoft.com/office/drawing/2014/main" id="{2392E7BC-0D6A-482F-89BB-3B7AE033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04">
            <a:extLst xmlns:a="http://schemas.openxmlformats.org/drawingml/2006/main">
              <a:ext uri="{FF2B5EF4-FFF2-40B4-BE49-F238E27FC236}">
                <a16:creationId xmlns:a16="http://schemas.microsoft.com/office/drawing/2014/main" id="{B48E53B5-0F71-4D4C-9662-43ED3B5C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105">
            <a:extLst xmlns:a="http://schemas.openxmlformats.org/drawingml/2006/main">
              <a:ext uri="{FF2B5EF4-FFF2-40B4-BE49-F238E27FC236}">
                <a16:creationId xmlns:a16="http://schemas.microsoft.com/office/drawing/2014/main" id="{2585FB1A-131F-41E1-9EFF-D87376E4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Жизненный цикл сессии</a:t>
            </a:r>
          </a:p>
        </p:txBody>
      </p:sp>
      <p:sp>
        <p:nvSpPr>
          <p:cNvPr id="4" name="diagram-106">
            <a:extLst xmlns:a="http://schemas.openxmlformats.org/drawingml/2006/main">
              <a:ext uri="{FF2B5EF4-FFF2-40B4-BE49-F238E27FC236}">
                <a16:creationId xmlns:a16="http://schemas.microsoft.com/office/drawing/2014/main" id="{D5F52D14-6A71-489B-AE7C-95E7913D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24288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Запрос</a:t>
            </a:r>
          </a:p>
          <a:p xmlns:a="http://schemas.openxmlformats.org/drawingml/2006/main">
            <a:pPr algn="ctr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payload_id + payload</a:t>
            </a:r>
          </a:p>
        </p:txBody>
      </p:sp>
      <p:sp>
        <p:nvSpPr>
          <p:cNvPr id="5" name="diagram-107">
            <a:extLst xmlns:a="http://schemas.openxmlformats.org/drawingml/2006/main">
              <a:ext uri="{FF2B5EF4-FFF2-40B4-BE49-F238E27FC236}">
                <a16:creationId xmlns:a16="http://schemas.microsoft.com/office/drawing/2014/main" id="{B1A44C8E-8FF1-44CD-B3BF-95D03B18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71725"/>
            <a:ext cx="33813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Поиск сессии</a:t>
            </a:r>
          </a:p>
          <a:p xmlns:a="http://schemas.openxmlformats.org/drawingml/2006/main">
            <a:pPr algn="ctr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система + payload_id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38475" y="2743200"/>
            <a:ext cx="962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7" name="diagram-108">
            <a:extLst xmlns:a="http://schemas.openxmlformats.org/drawingml/2006/main">
              <a:ext uri="{FF2B5EF4-FFF2-40B4-BE49-F238E27FC236}">
                <a16:creationId xmlns:a16="http://schemas.microsoft.com/office/drawing/2014/main" id="{91D012D9-C790-48F4-8A5E-CCBC7AF8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4572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Сессии нет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Поиск ПД и маскирование</a:t>
            </a:r>
          </a:p>
        </p:txBody>
      </p:sp>
      <p:sp>
        <p:nvSpPr>
          <p:cNvPr id="8" name="diagram-109">
            <a:extLst xmlns:a="http://schemas.openxmlformats.org/drawingml/2006/main">
              <a:ext uri="{FF2B5EF4-FFF2-40B4-BE49-F238E27FC236}">
                <a16:creationId xmlns:a16="http://schemas.microsoft.com/office/drawing/2014/main" id="{964F7653-2E6E-41B6-8002-5C504E39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5285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B9B9"/>
            </a:solidFill>
          </a:ln>
        </p:spPr>
        <p:txBody>
          <a:bodyPr xmlns:a="http://schemas.openxmlformats.org/drawingml/2006/main" wrap="square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Сессия найдена</a:t>
            </a:r>
          </a:p>
          <a:p xmlns:a="http://schemas.openxmlformats.org/drawingml/2006/main">
            <a:pPr algn="ctr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Сравнение payload</a:t>
            </a:r>
          </a:p>
        </p:txBody>
      </p:sp>
      <p:cxnSp>
        <p:nvCxnSpPr>
          <p:cNvPr id="22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2895600" y="3114675"/>
            <a:ext cx="2795588" cy="6381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cxnSp>
        <p:nvCxnSpPr>
          <p:cNvPr id="23" name=""/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5691188" y="3114675"/>
            <a:ext cx="3405188" cy="6381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C92829"/>
            </a:solidFill>
            <a:tailEnd type="triangle" w="sm" len="sm"/>
          </a:ln>
        </p:spPr>
      </p:cxnSp>
      <p:sp>
        <p:nvSpPr>
          <p:cNvPr id="11" name="text-110">
            <a:extLst xmlns:a="http://schemas.openxmlformats.org/drawingml/2006/main">
              <a:ext uri="{FF2B5EF4-FFF2-40B4-BE49-F238E27FC236}">
                <a16:creationId xmlns:a16="http://schemas.microsoft.com/office/drawing/2014/main" id="{9917DEFA-CC0F-4947-BA4C-0D248AE0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50958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Создать зашифрованную запись в Redis.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TTL после маскирования: 15 минут.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Вернуть маскированный текст.</a:t>
            </a:r>
          </a:p>
        </p:txBody>
      </p:sp>
      <p:sp>
        <p:nvSpPr>
          <p:cNvPr id="12" name="text-111">
            <a:extLst xmlns:a="http://schemas.openxmlformats.org/drawingml/2006/main">
              <a:ext uri="{FF2B5EF4-FFF2-40B4-BE49-F238E27FC236}">
                <a16:creationId xmlns:a16="http://schemas.microsoft.com/office/drawing/2014/main" id="{85834DEC-DA58-4435-B9B1-A35B267A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829175"/>
            <a:ext cx="495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Исходный текст: вернуть прежнюю маску.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Маска: вернуть исходную строку.</a:t>
            </a:r>
          </a:p>
          <a:p xmlns:a="http://schemas.openxmlformats.org/drawingml/2006/main">
            <a:pPr algn="l">
              <a:def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Ответ LLM: восстановить известные маски.</a:t>
            </a:r>
          </a:p>
        </p:txBody>
      </p:sp>
      <p:sp>
        <p:nvSpPr>
          <p:cNvPr id="13" name="text-112">
            <a:extLst xmlns:a="http://schemas.openxmlformats.org/drawingml/2006/main">
              <a:ext uri="{FF2B5EF4-FFF2-40B4-BE49-F238E27FC236}">
                <a16:creationId xmlns:a16="http://schemas.microsoft.com/office/drawing/2014/main" id="{BFC91BA7-F08B-4DEC-8D2B-A37BED40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После восстановления TTL = 2 минуты. По истечении TTL Redis удаляет запись. Сроки настраиваются.</a:t>
            </a:r>
          </a:p>
        </p:txBody>
      </p:sp>
    </p:spTree>
    <p:extLst>
      <p:ext uri="{BB962C8B-B14F-4D97-AF65-F5344CB8AC3E}">
        <p14:creationId xmlns:p14="http://schemas.microsoft.com/office/powerpoint/2010/main" val="1195977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13">
            <a:extLst xmlns:a="http://schemas.openxmlformats.org/drawingml/2006/main">
              <a:ext uri="{FF2B5EF4-FFF2-40B4-BE49-F238E27FC236}">
                <a16:creationId xmlns:a16="http://schemas.microsoft.com/office/drawing/2014/main" id="{C9C15FA4-1BC2-407D-9B7A-471BA939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14">
            <a:extLst xmlns:a="http://schemas.openxmlformats.org/drawingml/2006/main">
              <a:ext uri="{FF2B5EF4-FFF2-40B4-BE49-F238E27FC236}">
                <a16:creationId xmlns:a16="http://schemas.microsoft.com/office/drawing/2014/main" id="{6B70FBD4-AD2F-4C48-9531-2EEF33B5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3" name="text-115">
            <a:extLst xmlns:a="http://schemas.openxmlformats.org/drawingml/2006/main">
              <a:ext uri="{FF2B5EF4-FFF2-40B4-BE49-F238E27FC236}">
                <a16:creationId xmlns:a16="http://schemas.microsoft.com/office/drawing/2014/main" id="{2D897AB2-AEF8-42F3-9CDC-4F9E9166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Логи, метрики и наблюдаемость</a:t>
            </a:r>
          </a:p>
        </p:txBody>
      </p:sp>
      <p:sp>
        <p:nvSpPr>
          <p:cNvPr id="4" name="text-116">
            <a:extLst xmlns:a="http://schemas.openxmlformats.org/drawingml/2006/main">
              <a:ext uri="{FF2B5EF4-FFF2-40B4-BE49-F238E27FC236}">
                <a16:creationId xmlns:a16="http://schemas.microsoft.com/office/drawing/2014/main" id="{316BF60E-4BEB-45E1-9137-94CF08F3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Логи обработки</a:t>
            </a:r>
          </a:p>
        </p:txBody>
      </p:sp>
      <p:sp>
        <p:nvSpPr>
          <p:cNvPr id="5" name="text-117">
            <a:extLst xmlns:a="http://schemas.openxmlformats.org/drawingml/2006/main">
              <a:ext uri="{FF2B5EF4-FFF2-40B4-BE49-F238E27FC236}">
                <a16:creationId xmlns:a16="http://schemas.microsoft.com/office/drawing/2014/main" id="{19EB59AB-93E6-4FE1-BC9C-3EB11DCF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495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Операция и код ответа</a:t>
            </a:r>
          </a:p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Типы и число найденных ПД</a:t>
            </a:r>
          </a:p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Время поиска и обращения к Redis</a:t>
            </a:r>
          </a:p>
        </p:txBody>
      </p:sp>
      <p:sp>
        <p:nvSpPr>
          <p:cNvPr id="6" name="text-118">
            <a:extLst xmlns:a="http://schemas.openxmlformats.org/drawingml/2006/main">
              <a:ext uri="{FF2B5EF4-FFF2-40B4-BE49-F238E27FC236}">
                <a16:creationId xmlns:a16="http://schemas.microsoft.com/office/drawing/2014/main" id="{6DB17009-1E77-4C54-9EA7-AC32476F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Метрики /metrics</a:t>
            </a:r>
          </a:p>
        </p:txBody>
      </p:sp>
      <p:sp>
        <p:nvSpPr>
          <p:cNvPr id="7" name="text-119">
            <a:extLst xmlns:a="http://schemas.openxmlformats.org/drawingml/2006/main">
              <a:ext uri="{FF2B5EF4-FFF2-40B4-BE49-F238E27FC236}">
                <a16:creationId xmlns:a16="http://schemas.microsoft.com/office/drawing/2014/main" id="{9B300E21-CB29-4121-8367-3ED28F65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05125"/>
            <a:ext cx="48768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Latency: время ответа</a:t>
            </a:r>
          </a:p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RPS: запросы в секунду</a:t>
            </a:r>
          </a:p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TPS: текстовые единицы в секунду</a:t>
            </a:r>
          </a:p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Ошибки, 429 и активные запросы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E63CA-6583-4304-9B3F-97760673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4B9B9"/>
            </a:solidFill>
          </a:ln>
        </p:spPr>
      </p:sp>
      <p:sp>
        <p:nvSpPr>
          <p:cNvPr id="9" name="text-120">
            <a:extLst xmlns:a="http://schemas.openxmlformats.org/drawingml/2006/main">
              <a:ext uri="{FF2B5EF4-FFF2-40B4-BE49-F238E27FC236}">
                <a16:creationId xmlns:a16="http://schemas.microsoft.com/office/drawing/2014/main" id="{348AD357-03A0-4A24-920A-619D3A8D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Исходный текст и значения ПД не включаются в логи и метрики.</a:t>
            </a:r>
          </a:p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Соответствия для восстановления хранятся в Redis под AES-GCM.</a:t>
            </a:r>
          </a:p>
        </p:txBody>
      </p:sp>
      <p:sp>
        <p:nvSpPr>
          <p:cNvPr id="10" name="text-121">
            <a:extLst xmlns:a="http://schemas.openxmlformats.org/drawingml/2006/main">
              <a:ext uri="{FF2B5EF4-FFF2-40B4-BE49-F238E27FC236}">
                <a16:creationId xmlns:a16="http://schemas.microsoft.com/office/drawing/2014/main" id="{8EA576FA-10EE-46D7-8534-EF69A29E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TPS использует разделение по пробелам. Это не токенизатор конкретной LLM.</a:t>
            </a:r>
          </a:p>
        </p:txBody>
      </p:sp>
    </p:spTree>
    <p:extLst>
      <p:ext uri="{BB962C8B-B14F-4D97-AF65-F5344CB8AC3E}">
        <p14:creationId xmlns:p14="http://schemas.microsoft.com/office/powerpoint/2010/main" val="14452844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22">
            <a:extLst xmlns:a="http://schemas.openxmlformats.org/drawingml/2006/main">
              <a:ext uri="{FF2B5EF4-FFF2-40B4-BE49-F238E27FC236}">
                <a16:creationId xmlns:a16="http://schemas.microsoft.com/office/drawing/2014/main" id="{0E34FAE2-782B-4869-B4B8-16905987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23">
            <a:extLst xmlns:a="http://schemas.openxmlformats.org/drawingml/2006/main">
              <a:ext uri="{FF2B5EF4-FFF2-40B4-BE49-F238E27FC236}">
                <a16:creationId xmlns:a16="http://schemas.microsoft.com/office/drawing/2014/main" id="{52498DE7-AE19-4E1C-91D0-C3A30D45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124">
            <a:extLst xmlns:a="http://schemas.openxmlformats.org/drawingml/2006/main">
              <a:ext uri="{FF2B5EF4-FFF2-40B4-BE49-F238E27FC236}">
                <a16:creationId xmlns:a16="http://schemas.microsoft.com/office/drawing/2014/main" id="{28F029F7-47CE-4F92-BA28-519F4A67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Улучшение поиска в анкетах</a:t>
            </a:r>
          </a:p>
        </p:txBody>
      </p:sp>
      <p:sp>
        <p:nvSpPr>
          <p:cNvPr id="4" name="text-125">
            <a:extLst xmlns:a="http://schemas.openxmlformats.org/drawingml/2006/main">
              <a:ext uri="{FF2B5EF4-FFF2-40B4-BE49-F238E27FC236}">
                <a16:creationId xmlns:a16="http://schemas.microsoft.com/office/drawing/2014/main" id="{BED4FD67-1BB7-418E-8047-77ACA7D1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Проверка: 200 синтетических анкет по 22 поля.</a:t>
            </a:r>
          </a:p>
          <a:p xmlns:a="http://schemas.openxmlformats.org/drawingml/2006/main">
            <a:pPr algn="l">
              <a:def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Всего 4400 значений, которые нужно закрыть маской правильного типа.</a:t>
            </a:r>
          </a:p>
        </p:txBody>
      </p:sp>
      <p:sp>
        <p:nvSpPr>
          <p:cNvPr id="5" name="text-126">
            <a:extLst xmlns:a="http://schemas.openxmlformats.org/drawingml/2006/main">
              <a:ext uri="{FF2B5EF4-FFF2-40B4-BE49-F238E27FC236}">
                <a16:creationId xmlns:a16="http://schemas.microsoft.com/office/drawing/2014/main" id="{4DE10A24-2FDE-4D1E-88EE-E9D5C1A3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До доработки</a:t>
            </a:r>
          </a:p>
        </p:txBody>
      </p:sp>
      <p:sp>
        <p:nvSpPr>
          <p:cNvPr id="6" name="text-127">
            <a:extLst xmlns:a="http://schemas.openxmlformats.org/drawingml/2006/main">
              <a:ext uri="{FF2B5EF4-FFF2-40B4-BE49-F238E27FC236}">
                <a16:creationId xmlns:a16="http://schemas.microsoft.com/office/drawing/2014/main" id="{93C2F90C-4C67-4C86-A879-4AADBA4D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099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Текущая версия</a:t>
            </a:r>
          </a:p>
        </p:txBody>
      </p:sp>
      <p:sp>
        <p:nvSpPr>
          <p:cNvPr id="7" name="text-128">
            <a:extLst xmlns:a="http://schemas.openxmlformats.org/drawingml/2006/main">
              <a:ext uri="{FF2B5EF4-FFF2-40B4-BE49-F238E27FC236}">
                <a16:creationId xmlns:a16="http://schemas.microsoft.com/office/drawing/2014/main" id="{C0F43EA0-1C30-4BD6-8F6A-D87279F9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1 902 из 4 400</a:t>
            </a:r>
          </a:p>
        </p:txBody>
      </p:sp>
      <p:sp>
        <p:nvSpPr>
          <p:cNvPr id="8" name="text-129">
            <a:extLst xmlns:a="http://schemas.openxmlformats.org/drawingml/2006/main">
              <a:ext uri="{FF2B5EF4-FFF2-40B4-BE49-F238E27FC236}">
                <a16:creationId xmlns:a16="http://schemas.microsoft.com/office/drawing/2014/main" id="{356BD116-E04B-4398-B7BD-5722A489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7667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4 400 из 4 400</a:t>
            </a:r>
          </a:p>
        </p:txBody>
      </p:sp>
      <p:sp>
        <p:nvSpPr>
          <p:cNvPr id="9" name="text-130">
            <a:extLst xmlns:a="http://schemas.openxmlformats.org/drawingml/2006/main">
              <a:ext uri="{FF2B5EF4-FFF2-40B4-BE49-F238E27FC236}">
                <a16:creationId xmlns:a16="http://schemas.microsoft.com/office/drawing/2014/main" id="{FE4D8887-1613-444B-8361-F35E4588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43,23% полей полностью закрыты</a:t>
            </a:r>
          </a:p>
        </p:txBody>
      </p:sp>
      <p:sp>
        <p:nvSpPr>
          <p:cNvPr id="10" name="text-131">
            <a:extLst xmlns:a="http://schemas.openxmlformats.org/drawingml/2006/main">
              <a:ext uri="{FF2B5EF4-FFF2-40B4-BE49-F238E27FC236}">
                <a16:creationId xmlns:a16="http://schemas.microsoft.com/office/drawing/2014/main" id="{1767506A-8880-4563-AE02-267C7741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291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100% полей полностью закрыты</a:t>
            </a:r>
          </a:p>
        </p:txBody>
      </p:sp>
      <p:sp>
        <p:nvSpPr>
          <p:cNvPr id="11" name="text-132">
            <a:extLst xmlns:a="http://schemas.openxmlformats.org/drawingml/2006/main">
              <a:ext uri="{FF2B5EF4-FFF2-40B4-BE49-F238E27FC236}">
                <a16:creationId xmlns:a16="http://schemas.microsoft.com/office/drawing/2014/main" id="{E03C2027-65FB-43B1-BF8C-61A8443E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Добавили разбор полей по меткам, границы адресных компонентов</a:t>
            </a:r>
          </a:p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и варианты дат. Контекстные правила не зависят только от контрольной суммы.</a:t>
            </a:r>
          </a:p>
        </p:txBody>
      </p:sp>
      <p:sp>
        <p:nvSpPr>
          <p:cNvPr id="12" name="text-133">
            <a:extLst xmlns:a="http://schemas.openxmlformats.org/drawingml/2006/main">
              <a:ext uri="{FF2B5EF4-FFF2-40B4-BE49-F238E27FC236}">
                <a16:creationId xmlns:a16="http://schemas.microsoft.com/office/drawing/2014/main" id="{06CEE2C6-FCDA-4B6F-A2FC-A44ECCA2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Результат относится к этой выборке анкет. Качество произвольного текста проверяется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2936096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34">
            <a:extLst xmlns:a="http://schemas.openxmlformats.org/drawingml/2006/main">
              <a:ext uri="{FF2B5EF4-FFF2-40B4-BE49-F238E27FC236}">
                <a16:creationId xmlns:a16="http://schemas.microsoft.com/office/drawing/2014/main" id="{DD49D5E5-6819-4666-86EC-1C2A5DFC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35">
            <a:extLst xmlns:a="http://schemas.openxmlformats.org/drawingml/2006/main">
              <a:ext uri="{FF2B5EF4-FFF2-40B4-BE49-F238E27FC236}">
                <a16:creationId xmlns:a16="http://schemas.microsoft.com/office/drawing/2014/main" id="{3D2D11E4-0496-47FF-8B87-60532EA6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3" name="text-136">
            <a:extLst xmlns:a="http://schemas.openxmlformats.org/drawingml/2006/main">
              <a:ext uri="{FF2B5EF4-FFF2-40B4-BE49-F238E27FC236}">
                <a16:creationId xmlns:a16="http://schemas.microsoft.com/office/drawing/2014/main" id="{81BB83BB-4652-4EF8-9B8F-D7AC922A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Проверка корректности</a:t>
            </a:r>
          </a:p>
        </p:txBody>
      </p:sp>
      <p:sp>
        <p:nvSpPr>
          <p:cNvPr id="4" name="text-137">
            <a:extLst xmlns:a="http://schemas.openxmlformats.org/drawingml/2006/main">
              <a:ext uri="{FF2B5EF4-FFF2-40B4-BE49-F238E27FC236}">
                <a16:creationId xmlns:a16="http://schemas.microsoft.com/office/drawing/2014/main" id="{1E3CAF59-0C0F-42C1-8542-9B46F64F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56 синтетических примеров с заранее заданными типами и границами ПД.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 набор входят разные форматы, пересечения и тексты без персональных данных.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3190875"/>
          <a:ext xmlns:a="http://schemas.openxmlformats.org/drawingml/2006/main" cx="10972800" cy="2628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57750"/>
                <a:gridCol w="6115050"/>
              </a:tblGrid>
              <a:tr h="657225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Что проверяли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Результат на текущем наборе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</a:tr>
              <a:tr h="657225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Тип и точные границы найденных ПД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 совпали с разметкой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Лишние срабатывания и пропуски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 лишних находок, 0 пропусков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  <a:tr h="657225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Маскирование и обратное восстановление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Исходная строка восстановлена в 56 из 56 примеров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138">
            <a:extLst xmlns:a="http://schemas.openxmlformats.org/drawingml/2006/main">
              <a:ext uri="{FF2B5EF4-FFF2-40B4-BE49-F238E27FC236}">
                <a16:creationId xmlns:a16="http://schemas.microsoft.com/office/drawing/2014/main" id="{0D7B3984-BEC7-41E7-8E28-7C4DF6E4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Локальные тесты не подтверждают порог 95% на скрытом наборе AlfaSonar. Внешний результат открыт.</a:t>
            </a:r>
          </a:p>
        </p:txBody>
      </p:sp>
    </p:spTree>
    <p:extLst>
      <p:ext uri="{BB962C8B-B14F-4D97-AF65-F5344CB8AC3E}">
        <p14:creationId xmlns:p14="http://schemas.microsoft.com/office/powerpoint/2010/main" val="1728451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39">
            <a:extLst xmlns:a="http://schemas.openxmlformats.org/drawingml/2006/main">
              <a:ext uri="{FF2B5EF4-FFF2-40B4-BE49-F238E27FC236}">
                <a16:creationId xmlns:a16="http://schemas.microsoft.com/office/drawing/2014/main" id="{F2E495D3-2A6B-44D5-A766-5D2B9B4A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40">
            <a:extLst xmlns:a="http://schemas.openxmlformats.org/drawingml/2006/main">
              <a:ext uri="{FF2B5EF4-FFF2-40B4-BE49-F238E27FC236}">
                <a16:creationId xmlns:a16="http://schemas.microsoft.com/office/drawing/2014/main" id="{E1954A8D-651B-40DF-AB1C-17A87FFA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3" name="text-141">
            <a:extLst xmlns:a="http://schemas.openxmlformats.org/drawingml/2006/main">
              <a:ext uri="{FF2B5EF4-FFF2-40B4-BE49-F238E27FC236}">
                <a16:creationId xmlns:a16="http://schemas.microsoft.com/office/drawing/2014/main" id="{7162A74A-7B00-45C9-8ADA-F2A1B06D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Результаты нагрузочных испытаний</a:t>
            </a:r>
          </a:p>
        </p:txBody>
      </p:sp>
      <p:sp>
        <p:nvSpPr>
          <p:cNvPr id="4" name="text-142">
            <a:extLst xmlns:a="http://schemas.openxmlformats.org/drawingml/2006/main">
              <a:ext uri="{FF2B5EF4-FFF2-40B4-BE49-F238E27FC236}">
                <a16:creationId xmlns:a16="http://schemas.microsoft.com/office/drawing/2014/main" id="{C9087A62-AA50-4EA0-AE5A-434DEA8B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Цель ТЗ: 1000 запросов/с, ориентир времени ответа до 1 с.</a:t>
            </a:r>
          </a:p>
          <a:p xmlns:a="http://schemas.openxmlformats.org/drawingml/2006/main">
            <a:pPr algn="l">
              <a:def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Профиль команды: 300 секунд после прогрева, маскирование и восстановление.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109728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286125"/>
                <a:gridCol w="3067050"/>
              </a:tblGrid>
              <a:tr h="6477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Метрика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Локально, 8 процессов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Railway</a:t>
                      </a:r>
                    </a:p>
                  </a:txBody>
                  <a:tcPr marL="91440" marR="91440" marT="45720" marB="45720" anchor="ctr">
                    <a:solidFill>
                      <a:srgbClr val="16232D"/>
                    </a:solidFill>
                  </a:tcPr>
                </a:tc>
              </a:tr>
              <a:tr h="6477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Успешных операций/с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≈1000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≈645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Время ответа для 95% операций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≤21,78 мс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≈10 с</a:t>
                      </a:r>
                    </a:p>
                  </a:txBody>
                  <a:tcPr marL="91440" marR="91440" marT="45720" marB="45720" anchor="ctr">
                    <a:solidFill>
                      <a:srgbClr val="F7F5EF"/>
                    </a:solidFill>
                  </a:tcPr>
                </a:tc>
              </a:tr>
              <a:tr h="6477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Ошибки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575" b="0">
                          <a:solidFill>
                            <a:srgbClr val="16232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≈33%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143">
            <a:extLst xmlns:a="http://schemas.openxmlformats.org/drawingml/2006/main">
              <a:ext uri="{FF2B5EF4-FFF2-40B4-BE49-F238E27FC236}">
                <a16:creationId xmlns:a16="http://schemas.microsoft.com/office/drawing/2014/main" id="{3AD7742F-0B00-4FCF-9F86-EC8E1425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 локальном профиле цель достигнута. Публичный deployment</a:t>
            </a:r>
          </a:p>
          <a:p xmlns:a="http://schemas.openxmlformats.org/drawingml/2006/main">
            <a:pPr algn="l">
              <a:def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выдержал короткий тест 100 запросов/с, но не прошёл профиль 1000 запросов/с.</a:t>
            </a:r>
          </a:p>
        </p:txBody>
      </p:sp>
    </p:spTree>
    <p:extLst>
      <p:ext uri="{BB962C8B-B14F-4D97-AF65-F5344CB8AC3E}">
        <p14:creationId xmlns:p14="http://schemas.microsoft.com/office/powerpoint/2010/main" val="9569009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44">
            <a:extLst xmlns:a="http://schemas.openxmlformats.org/drawingml/2006/main">
              <a:ext uri="{FF2B5EF4-FFF2-40B4-BE49-F238E27FC236}">
                <a16:creationId xmlns:a16="http://schemas.microsoft.com/office/drawing/2014/main" id="{FFD47ABA-B360-47F0-8BC3-AE1431D9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КРАСНЫЙ KOD</a:t>
            </a:r>
          </a:p>
        </p:txBody>
      </p:sp>
      <p:sp>
        <p:nvSpPr>
          <p:cNvPr id="2" name="text-145">
            <a:extLst xmlns:a="http://schemas.openxmlformats.org/drawingml/2006/main">
              <a:ext uri="{FF2B5EF4-FFF2-40B4-BE49-F238E27FC236}">
                <a16:creationId xmlns:a16="http://schemas.microsoft.com/office/drawing/2014/main" id="{C53E68A1-30F7-4814-A958-33A228C6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3" name="text-146">
            <a:extLst xmlns:a="http://schemas.openxmlformats.org/drawingml/2006/main">
              <a:ext uri="{FF2B5EF4-FFF2-40B4-BE49-F238E27FC236}">
                <a16:creationId xmlns:a16="http://schemas.microsoft.com/office/drawing/2014/main" id="{E6CC2934-44EC-4EAB-813D-76A7D86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239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Результат проекта</a:t>
            </a:r>
          </a:p>
        </p:txBody>
      </p:sp>
      <p:sp>
        <p:nvSpPr>
          <p:cNvPr id="4" name="text-147">
            <a:extLst xmlns:a="http://schemas.openxmlformats.org/drawingml/2006/main">
              <a:ext uri="{FF2B5EF4-FFF2-40B4-BE49-F238E27FC236}">
                <a16:creationId xmlns:a16="http://schemas.microsoft.com/office/drawing/2014/main" id="{0E700C4E-4FE3-4E46-8AD3-5F3F3DEB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Реализовано</a:t>
            </a:r>
          </a:p>
        </p:txBody>
      </p:sp>
      <p:sp>
        <p:nvSpPr>
          <p:cNvPr id="5" name="text-148">
            <a:extLst xmlns:a="http://schemas.openxmlformats.org/drawingml/2006/main">
              <a:ext uri="{FF2B5EF4-FFF2-40B4-BE49-F238E27FC236}">
                <a16:creationId xmlns:a16="http://schemas.microsoft.com/office/drawing/2014/main" id="{C67DEC1D-69A4-403F-A21F-69D6B4CB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Сервис маскирования ПД с обратным восстановлением,</a:t>
            </a:r>
          </a:p>
          <a:p xmlns:a="http://schemas.openxmlformats.org/drawingml/2006/main">
            <a:pPr algn="l">
              <a:def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настройками систем и зашифрованными сессиями.</a:t>
            </a:r>
          </a:p>
          <a:p xmlns:a="http://schemas.openxmlformats.org/drawingml/2006/main">
            <a:pPr algn="l">
              <a:def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6232D"/>
                </a:solidFill>
                <a:latin typeface="DejaVu Sans"/>
                <a:ea typeface="DejaVu Sans"/>
                <a:cs typeface="DejaVu Sans"/>
              </a:rPr>
              <a:t>Локальные проверки подтверждают работу на тестовых наборах.</a:t>
            </a:r>
          </a:p>
        </p:txBody>
      </p:sp>
      <p:sp>
        <p:nvSpPr>
          <p:cNvPr id="6" name="text-149">
            <a:extLst xmlns:a="http://schemas.openxmlformats.org/drawingml/2006/main">
              <a:ext uri="{FF2B5EF4-FFF2-40B4-BE49-F238E27FC236}">
                <a16:creationId xmlns:a16="http://schemas.microsoft.com/office/drawing/2014/main" id="{9039711F-F369-41AE-8DBC-1BAEFF14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C92829"/>
                </a:solidFill>
                <a:latin typeface="DejaVu Sans"/>
                <a:ea typeface="DejaVu Sans"/>
                <a:cs typeface="DejaVu Sans"/>
              </a:rPr>
              <a:t>Остаётся подтвердить</a:t>
            </a:r>
          </a:p>
        </p:txBody>
      </p:sp>
      <p:sp>
        <p:nvSpPr>
          <p:cNvPr id="7" name="text-150">
            <a:extLst xmlns:a="http://schemas.openxmlformats.org/drawingml/2006/main">
              <a:ext uri="{FF2B5EF4-FFF2-40B4-BE49-F238E27FC236}">
                <a16:creationId xmlns:a16="http://schemas.microsoft.com/office/drawing/2014/main" id="{EF911B07-48C9-4A09-A482-1B628A2F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Качество и совместимость в AlfaSonar, внешнюю проверку ZIP</a:t>
            </a:r>
          </a:p>
          <a:p xmlns:a="http://schemas.openxmlformats.org/drawingml/2006/main">
            <a:pPr algn="l">
              <a:defRPr sz="1875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и целевую нагрузку на публичном сервере.</a:t>
            </a:r>
          </a:p>
        </p:txBody>
      </p:sp>
      <p:sp>
        <p:nvSpPr>
          <p:cNvPr id="8" name="text-151">
            <a:extLst xmlns:a="http://schemas.openxmlformats.org/drawingml/2006/main">
              <a:ext uri="{FF2B5EF4-FFF2-40B4-BE49-F238E27FC236}">
                <a16:creationId xmlns:a16="http://schemas.microsoft.com/office/drawing/2014/main" id="{F33D372B-E989-42CB-9D57-B0E9A1EA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3b290c55639d450d"/>
              </a:rPr>
              <a:t>Демонстрация API</a:t>
            </a:r>
          </a:p>
        </p:txBody>
      </p:sp>
      <p:sp>
        <p:nvSpPr>
          <p:cNvPr id="9" name="text-152">
            <a:extLst xmlns:a="http://schemas.openxmlformats.org/drawingml/2006/main">
              <a:ext uri="{FF2B5EF4-FFF2-40B4-BE49-F238E27FC236}">
                <a16:creationId xmlns:a16="http://schemas.microsoft.com/office/drawing/2014/main" id="{84243F0B-8CD9-43B7-908C-EE1D37D4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102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232D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c2f3c85124394e2c"/>
              </a:rPr>
              <a:t>Исходный код на GitHub</a:t>
            </a:r>
          </a:p>
        </p:txBody>
      </p:sp>
      <p:sp>
        <p:nvSpPr>
          <p:cNvPr id="10" name="text-153">
            <a:extLst xmlns:a="http://schemas.openxmlformats.org/drawingml/2006/main">
              <a:ext uri="{FF2B5EF4-FFF2-40B4-BE49-F238E27FC236}">
                <a16:creationId xmlns:a16="http://schemas.microsoft.com/office/drawing/2014/main" id="{1737269C-1DF9-4437-B151-B5C0F60D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05C64"/>
                </a:solidFill>
                <a:latin typeface="DejaVu Sans"/>
                <a:ea typeface="DejaVu Sans"/>
                <a:cs typeface="DejaVu Sans"/>
              </a:rPr>
              <a:t>Публичный API предназначен для синтетических данных. Соответствие стандартам ИБ банка не подтверждено.</a:t>
            </a:r>
          </a:p>
        </p:txBody>
      </p:sp>
    </p:spTree>
    <p:extLst>
      <p:ext uri="{BB962C8B-B14F-4D97-AF65-F5344CB8AC3E}">
        <p14:creationId xmlns:p14="http://schemas.microsoft.com/office/powerpoint/2010/main" val="16871253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2026-09-23T17:41:21.8070000Z</dcterms:created>
  <dcterms:modified xsi:type="dcterms:W3CDTF">2026-09-23T17:41:21.8070000Z</dcterms:modified>
</coreProperties>
</file>